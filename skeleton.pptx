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71" r:id="rId3"/>
    <p:sldMasterId id="2147483674" r:id="rId4"/>
  </p:sldMasterIdLst>
  <p:notesMasterIdLst>
    <p:notesMasterId r:id="rId22"/>
  </p:notesMasterIdLst>
  <p:sldIdLst>
    <p:sldId id="2147482406" r:id="rId5"/>
    <p:sldId id="2147482407" r:id="rId6"/>
    <p:sldId id="2147482408" r:id="rId7"/>
    <p:sldId id="2147482410" r:id="rId8"/>
    <p:sldId id="2147482411" r:id="rId9"/>
    <p:sldId id="2147482412" r:id="rId10"/>
    <p:sldId id="2147482413" r:id="rId11"/>
    <p:sldId id="2147482414" r:id="rId12"/>
    <p:sldId id="2147482415" r:id="rId13"/>
    <p:sldId id="2147482564" r:id="rId14"/>
    <p:sldId id="2147482419" r:id="rId15"/>
    <p:sldId id="2147482420" r:id="rId16"/>
    <p:sldId id="2147482566" r:id="rId17"/>
    <p:sldId id="2147482495" r:id="rId18"/>
    <p:sldId id="2147482567" r:id="rId20"/>
    <p:sldId id="2147482422" r:id="rId21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C21B1BA-6990-4750-8704-2691E7F8CA87}" type="datetimeFigureOut">
              <a:rPr lang="zh-CN" altLang="en-US" smtClean="0"/>
              <a:t>2025-03-14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2EB00AF-1C52-4229-8DCD-AC06827F7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199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752"/>
            <a:fld id="{828FB092-AF16-44F4-996E-8BD2943B182C}" type="slidenum">
              <a:rPr lang="zh-CN" altLang="en-US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pPr defTabSz="990752"/>
              <a:t>1</a:t>
            </a:fld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9332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752"/>
            <a:fld id="{828FB092-AF16-44F4-996E-8BD2943B182C}" type="slidenum">
              <a:rPr lang="zh-CN" altLang="en-US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pPr defTabSz="990752"/>
              <a:t>17</a:t>
            </a:fld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232996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65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B5425A7-14CE-4D3B-A951-4CEFDCDBD386}"/>
              </a:ext>
            </a:extLst>
          </p:cNvPr>
          <p:cNvGrpSpPr/>
          <p:nvPr userDrawn="1"/>
        </p:nvGrpSpPr>
        <p:grpSpPr>
          <a:xfrm>
            <a:off x="719427" y="2571289"/>
            <a:ext cx="3921560" cy="1664124"/>
            <a:chOff x="719427" y="2571289"/>
            <a:chExt cx="3921560" cy="1664124"/>
          </a:xfrm>
        </p:grpSpPr>
        <p:sp>
          <p:nvSpPr>
            <p:cNvPr id="3" name="图形">
              <a:extLst>
                <a:ext uri="{FF2B5EF4-FFF2-40B4-BE49-F238E27FC236}">
                  <a16:creationId xmlns:a16="http://schemas.microsoft.com/office/drawing/2014/main" id="{0EAA585E-3466-4494-8CE9-1F27C740A673}"/>
                </a:ext>
              </a:extLst>
            </p:cNvPr>
            <p:cNvSpPr txBox="1"/>
            <p:nvPr userDrawn="1"/>
          </p:nvSpPr>
          <p:spPr>
            <a:xfrm>
              <a:off x="719427" y="2571289"/>
              <a:ext cx="39215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03880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217EC5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Regular" panose="020B0500000000000000" pitchFamily="34" charset="-122"/>
                  <a:cs typeface="Times New Roman" panose="02020603050405020304" pitchFamily="18" charset="0"/>
                </a:rPr>
                <a:t>CONTENTS</a:t>
              </a:r>
              <a:endPara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217EC5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8B573B81-B429-4111-89C0-B79935C4D8C0}"/>
                </a:ext>
              </a:extLst>
            </p:cNvPr>
            <p:cNvSpPr/>
            <p:nvPr userDrawn="1"/>
          </p:nvSpPr>
          <p:spPr>
            <a:xfrm>
              <a:off x="1667248" y="3455714"/>
              <a:ext cx="2025919" cy="779699"/>
            </a:xfrm>
            <a:prstGeom prst="ellipse">
              <a:avLst/>
            </a:prstGeom>
            <a:gradFill flip="none" rotWithShape="1">
              <a:gsLst>
                <a:gs pos="30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  <a:alpha val="14000"/>
                  </a:schemeClr>
                </a:gs>
              </a:gsLst>
              <a:lin ang="16200000" scaled="0"/>
              <a:tileRect/>
            </a:gradFill>
            <a:ln w="15875">
              <a:gradFill>
                <a:gsLst>
                  <a:gs pos="72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217EC5"/>
                  </a:gs>
                </a:gsLst>
                <a:lin ang="16200000" scaled="0"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920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844DE2D2-AD0A-4C9F-9429-4DB64DCC4A3C}"/>
              </a:ext>
            </a:extLst>
          </p:cNvPr>
          <p:cNvGrpSpPr/>
          <p:nvPr userDrawn="1"/>
        </p:nvGrpSpPr>
        <p:grpSpPr>
          <a:xfrm>
            <a:off x="4270916" y="1491404"/>
            <a:ext cx="3650168" cy="3282885"/>
            <a:chOff x="3173946" y="1118553"/>
            <a:chExt cx="2737626" cy="2462164"/>
          </a:xfrm>
        </p:grpSpPr>
        <p:sp>
          <p:nvSpPr>
            <p:cNvPr id="10" name="文本占位符 4">
              <a:extLst>
                <a:ext uri="{FF2B5EF4-FFF2-40B4-BE49-F238E27FC236}">
                  <a16:creationId xmlns:a16="http://schemas.microsoft.com/office/drawing/2014/main" id="{A730249B-79FF-4C3B-BE80-7DFF67722AFB}"/>
                </a:ext>
              </a:extLst>
            </p:cNvPr>
            <p:cNvSpPr txBox="1"/>
            <p:nvPr/>
          </p:nvSpPr>
          <p:spPr>
            <a:xfrm>
              <a:off x="3211157" y="1118553"/>
              <a:ext cx="2663204" cy="2462164"/>
            </a:xfrm>
            <a:prstGeom prst="rect">
              <a:avLst/>
            </a:prstGeom>
            <a:noFill/>
            <a:effectLst/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3800" kern="1200" dirty="0">
                  <a:gradFill>
                    <a:gsLst>
                      <a:gs pos="75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atin typeface="Impact" panose="020B080603090205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lnSpc>
                  <a:spcPct val="100000"/>
                </a:lnSpc>
                <a:spcAft>
                  <a:spcPts val="0"/>
                </a:spcAft>
                <a:defRPr/>
              </a:pPr>
              <a:r>
                <a:rPr lang="en-US" sz="21333" spc="-1333" dirty="0">
                  <a:ln w="6350">
                    <a:gradFill>
                      <a:gsLst>
                        <a:gs pos="0">
                          <a:srgbClr val="004EA2"/>
                        </a:gs>
                        <a:gs pos="66000">
                          <a:srgbClr val="0066D6">
                            <a:alpha val="0"/>
                          </a:srgbClr>
                        </a:gs>
                      </a:gsLst>
                      <a:lin ang="5400000" scaled="1"/>
                    </a:gradFill>
                  </a:ln>
                  <a:gradFill>
                    <a:gsLst>
                      <a:gs pos="0">
                        <a:srgbClr val="004EA2">
                          <a:alpha val="25000"/>
                        </a:srgbClr>
                      </a:gs>
                      <a:gs pos="83083">
                        <a:srgbClr val="0064D1">
                          <a:alpha val="0"/>
                        </a:srgb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01</a:t>
              </a: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5CCB6F7-10BF-48F0-B151-4F027A3A1D15}"/>
                </a:ext>
              </a:extLst>
            </p:cNvPr>
            <p:cNvCxnSpPr/>
            <p:nvPr/>
          </p:nvCxnSpPr>
          <p:spPr>
            <a:xfrm>
              <a:off x="3173946" y="3225125"/>
              <a:ext cx="2737626" cy="0"/>
            </a:xfrm>
            <a:prstGeom prst="line">
              <a:avLst/>
            </a:prstGeom>
            <a:noFill/>
            <a:ln w="6350" cap="flat" cmpd="sng" algn="ctr">
              <a:solidFill>
                <a:srgbClr val="004EA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217272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01155B3F-2A52-4675-882E-1DF89F6BACA6}"/>
              </a:ext>
            </a:extLst>
          </p:cNvPr>
          <p:cNvGrpSpPr/>
          <p:nvPr userDrawn="1"/>
        </p:nvGrpSpPr>
        <p:grpSpPr>
          <a:xfrm>
            <a:off x="4270916" y="1491404"/>
            <a:ext cx="3650168" cy="3282885"/>
            <a:chOff x="3173946" y="1118553"/>
            <a:chExt cx="2737626" cy="2462164"/>
          </a:xfrm>
        </p:grpSpPr>
        <p:sp>
          <p:nvSpPr>
            <p:cNvPr id="7" name="文本占位符 4">
              <a:extLst>
                <a:ext uri="{FF2B5EF4-FFF2-40B4-BE49-F238E27FC236}">
                  <a16:creationId xmlns:a16="http://schemas.microsoft.com/office/drawing/2014/main" id="{EB0445F4-3CE7-42F2-A7A7-B30326DF134B}"/>
                </a:ext>
              </a:extLst>
            </p:cNvPr>
            <p:cNvSpPr txBox="1"/>
            <p:nvPr/>
          </p:nvSpPr>
          <p:spPr>
            <a:xfrm>
              <a:off x="3211157" y="1118553"/>
              <a:ext cx="2663204" cy="2462164"/>
            </a:xfrm>
            <a:prstGeom prst="rect">
              <a:avLst/>
            </a:prstGeom>
            <a:noFill/>
            <a:effectLst/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3800" kern="1200" dirty="0">
                  <a:gradFill>
                    <a:gsLst>
                      <a:gs pos="75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atin typeface="Impact" panose="020B080603090205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lnSpc>
                  <a:spcPct val="100000"/>
                </a:lnSpc>
                <a:spcAft>
                  <a:spcPts val="0"/>
                </a:spcAft>
                <a:defRPr/>
              </a:pPr>
              <a:r>
                <a:rPr lang="en-US" sz="21333" spc="-1333" dirty="0">
                  <a:ln w="6350">
                    <a:gradFill>
                      <a:gsLst>
                        <a:gs pos="0">
                          <a:srgbClr val="004EA2"/>
                        </a:gs>
                        <a:gs pos="66000">
                          <a:srgbClr val="0066D6">
                            <a:alpha val="0"/>
                          </a:srgbClr>
                        </a:gs>
                      </a:gsLst>
                      <a:lin ang="5400000" scaled="1"/>
                    </a:gradFill>
                  </a:ln>
                  <a:gradFill>
                    <a:gsLst>
                      <a:gs pos="0">
                        <a:srgbClr val="004EA2">
                          <a:alpha val="25000"/>
                        </a:srgbClr>
                      </a:gs>
                      <a:gs pos="83083">
                        <a:srgbClr val="0064D1">
                          <a:alpha val="0"/>
                        </a:srgb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02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4F8553FF-4D6F-4EFF-96E7-0E2511AFC1B0}"/>
                </a:ext>
              </a:extLst>
            </p:cNvPr>
            <p:cNvCxnSpPr/>
            <p:nvPr/>
          </p:nvCxnSpPr>
          <p:spPr>
            <a:xfrm>
              <a:off x="3173946" y="3225125"/>
              <a:ext cx="2737626" cy="0"/>
            </a:xfrm>
            <a:prstGeom prst="line">
              <a:avLst/>
            </a:prstGeom>
            <a:noFill/>
            <a:ln w="6350" cap="flat" cmpd="sng" algn="ctr">
              <a:solidFill>
                <a:srgbClr val="004EA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798724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01155B3F-2A52-4675-882E-1DF89F6BACA6}"/>
              </a:ext>
            </a:extLst>
          </p:cNvPr>
          <p:cNvGrpSpPr/>
          <p:nvPr userDrawn="1"/>
        </p:nvGrpSpPr>
        <p:grpSpPr>
          <a:xfrm>
            <a:off x="4270916" y="1491404"/>
            <a:ext cx="3650168" cy="3282885"/>
            <a:chOff x="3173946" y="1118553"/>
            <a:chExt cx="2737626" cy="2462164"/>
          </a:xfrm>
        </p:grpSpPr>
        <p:sp>
          <p:nvSpPr>
            <p:cNvPr id="7" name="文本占位符 4">
              <a:extLst>
                <a:ext uri="{FF2B5EF4-FFF2-40B4-BE49-F238E27FC236}">
                  <a16:creationId xmlns:a16="http://schemas.microsoft.com/office/drawing/2014/main" id="{EB0445F4-3CE7-42F2-A7A7-B30326DF134B}"/>
                </a:ext>
              </a:extLst>
            </p:cNvPr>
            <p:cNvSpPr txBox="1"/>
            <p:nvPr/>
          </p:nvSpPr>
          <p:spPr>
            <a:xfrm>
              <a:off x="3211157" y="1118553"/>
              <a:ext cx="2663204" cy="2462164"/>
            </a:xfrm>
            <a:prstGeom prst="rect">
              <a:avLst/>
            </a:prstGeom>
            <a:noFill/>
            <a:effectLst/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3800" kern="1200" dirty="0">
                  <a:gradFill>
                    <a:gsLst>
                      <a:gs pos="75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atin typeface="Impact" panose="020B080603090205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lnSpc>
                  <a:spcPct val="100000"/>
                </a:lnSpc>
                <a:spcAft>
                  <a:spcPts val="0"/>
                </a:spcAft>
                <a:defRPr/>
              </a:pPr>
              <a:r>
                <a:rPr lang="en-US" sz="21333" spc="-1333" dirty="0">
                  <a:ln w="6350">
                    <a:gradFill>
                      <a:gsLst>
                        <a:gs pos="0">
                          <a:srgbClr val="004EA2"/>
                        </a:gs>
                        <a:gs pos="66000">
                          <a:srgbClr val="0066D6">
                            <a:alpha val="0"/>
                          </a:srgbClr>
                        </a:gs>
                      </a:gsLst>
                      <a:lin ang="5400000" scaled="1"/>
                    </a:gradFill>
                  </a:ln>
                  <a:gradFill>
                    <a:gsLst>
                      <a:gs pos="0">
                        <a:srgbClr val="004EA2">
                          <a:alpha val="25000"/>
                        </a:srgbClr>
                      </a:gs>
                      <a:gs pos="83083">
                        <a:srgbClr val="0064D1">
                          <a:alpha val="0"/>
                        </a:srgb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03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4F8553FF-4D6F-4EFF-96E7-0E2511AFC1B0}"/>
                </a:ext>
              </a:extLst>
            </p:cNvPr>
            <p:cNvCxnSpPr/>
            <p:nvPr/>
          </p:nvCxnSpPr>
          <p:spPr>
            <a:xfrm>
              <a:off x="3173946" y="3225125"/>
              <a:ext cx="2737626" cy="0"/>
            </a:xfrm>
            <a:prstGeom prst="line">
              <a:avLst/>
            </a:prstGeom>
            <a:noFill/>
            <a:ln w="6350" cap="flat" cmpd="sng" algn="ctr">
              <a:solidFill>
                <a:srgbClr val="004EA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956053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01155B3F-2A52-4675-882E-1DF89F6BACA6}"/>
              </a:ext>
            </a:extLst>
          </p:cNvPr>
          <p:cNvGrpSpPr/>
          <p:nvPr userDrawn="1"/>
        </p:nvGrpSpPr>
        <p:grpSpPr>
          <a:xfrm>
            <a:off x="4270916" y="1491404"/>
            <a:ext cx="3650168" cy="3282885"/>
            <a:chOff x="3173946" y="1118553"/>
            <a:chExt cx="2737626" cy="2462164"/>
          </a:xfrm>
        </p:grpSpPr>
        <p:sp>
          <p:nvSpPr>
            <p:cNvPr id="7" name="文本占位符 4">
              <a:extLst>
                <a:ext uri="{FF2B5EF4-FFF2-40B4-BE49-F238E27FC236}">
                  <a16:creationId xmlns:a16="http://schemas.microsoft.com/office/drawing/2014/main" id="{EB0445F4-3CE7-42F2-A7A7-B30326DF134B}"/>
                </a:ext>
              </a:extLst>
            </p:cNvPr>
            <p:cNvSpPr txBox="1"/>
            <p:nvPr/>
          </p:nvSpPr>
          <p:spPr>
            <a:xfrm>
              <a:off x="3211157" y="1118553"/>
              <a:ext cx="2663204" cy="2462164"/>
            </a:xfrm>
            <a:prstGeom prst="rect">
              <a:avLst/>
            </a:prstGeom>
            <a:noFill/>
            <a:effectLst/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3800" kern="1200" dirty="0">
                  <a:gradFill>
                    <a:gsLst>
                      <a:gs pos="75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atin typeface="Impact" panose="020B080603090205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lnSpc>
                  <a:spcPct val="100000"/>
                </a:lnSpc>
                <a:spcAft>
                  <a:spcPts val="0"/>
                </a:spcAft>
                <a:defRPr/>
              </a:pPr>
              <a:r>
                <a:rPr lang="en-US" sz="21333" spc="-1333" dirty="0">
                  <a:ln w="6350">
                    <a:gradFill>
                      <a:gsLst>
                        <a:gs pos="0">
                          <a:srgbClr val="004EA2"/>
                        </a:gs>
                        <a:gs pos="66000">
                          <a:srgbClr val="0066D6">
                            <a:alpha val="0"/>
                          </a:srgbClr>
                        </a:gs>
                      </a:gsLst>
                      <a:lin ang="5400000" scaled="1"/>
                    </a:gradFill>
                  </a:ln>
                  <a:gradFill>
                    <a:gsLst>
                      <a:gs pos="0">
                        <a:srgbClr val="004EA2">
                          <a:alpha val="25000"/>
                        </a:srgbClr>
                      </a:gs>
                      <a:gs pos="83083">
                        <a:srgbClr val="0064D1">
                          <a:alpha val="0"/>
                        </a:srgb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04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4F8553FF-4D6F-4EFF-96E7-0E2511AFC1B0}"/>
                </a:ext>
              </a:extLst>
            </p:cNvPr>
            <p:cNvCxnSpPr/>
            <p:nvPr/>
          </p:nvCxnSpPr>
          <p:spPr>
            <a:xfrm>
              <a:off x="3173946" y="3225125"/>
              <a:ext cx="2737626" cy="0"/>
            </a:xfrm>
            <a:prstGeom prst="line">
              <a:avLst/>
            </a:prstGeom>
            <a:noFill/>
            <a:ln w="6350" cap="flat" cmpd="sng" algn="ctr">
              <a:solidFill>
                <a:srgbClr val="004EA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58619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01155B3F-2A52-4675-882E-1DF89F6BACA6}"/>
              </a:ext>
            </a:extLst>
          </p:cNvPr>
          <p:cNvGrpSpPr/>
          <p:nvPr userDrawn="1"/>
        </p:nvGrpSpPr>
        <p:grpSpPr>
          <a:xfrm>
            <a:off x="4270916" y="1491404"/>
            <a:ext cx="3650168" cy="3282885"/>
            <a:chOff x="3173946" y="1118553"/>
            <a:chExt cx="2737626" cy="2462164"/>
          </a:xfrm>
        </p:grpSpPr>
        <p:sp>
          <p:nvSpPr>
            <p:cNvPr id="7" name="文本占位符 4">
              <a:extLst>
                <a:ext uri="{FF2B5EF4-FFF2-40B4-BE49-F238E27FC236}">
                  <a16:creationId xmlns:a16="http://schemas.microsoft.com/office/drawing/2014/main" id="{EB0445F4-3CE7-42F2-A7A7-B30326DF134B}"/>
                </a:ext>
              </a:extLst>
            </p:cNvPr>
            <p:cNvSpPr txBox="1"/>
            <p:nvPr/>
          </p:nvSpPr>
          <p:spPr>
            <a:xfrm>
              <a:off x="3211157" y="1118553"/>
              <a:ext cx="2663204" cy="2462164"/>
            </a:xfrm>
            <a:prstGeom prst="rect">
              <a:avLst/>
            </a:prstGeom>
            <a:noFill/>
            <a:effectLst/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3800" kern="1200" dirty="0">
                  <a:gradFill>
                    <a:gsLst>
                      <a:gs pos="75000">
                        <a:schemeClr val="bg1">
                          <a:alpha val="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  <a:latin typeface="Impact" panose="020B080603090205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lnSpc>
                  <a:spcPct val="100000"/>
                </a:lnSpc>
                <a:spcAft>
                  <a:spcPts val="0"/>
                </a:spcAft>
                <a:defRPr/>
              </a:pPr>
              <a:r>
                <a:rPr lang="en-US" sz="21333" spc="-1333" dirty="0">
                  <a:ln w="6350">
                    <a:gradFill>
                      <a:gsLst>
                        <a:gs pos="0">
                          <a:srgbClr val="004EA2"/>
                        </a:gs>
                        <a:gs pos="66000">
                          <a:srgbClr val="0066D6">
                            <a:alpha val="0"/>
                          </a:srgbClr>
                        </a:gs>
                      </a:gsLst>
                      <a:lin ang="5400000" scaled="1"/>
                    </a:gradFill>
                  </a:ln>
                  <a:gradFill>
                    <a:gsLst>
                      <a:gs pos="0">
                        <a:srgbClr val="004EA2">
                          <a:alpha val="25000"/>
                        </a:srgbClr>
                      </a:gs>
                      <a:gs pos="83083">
                        <a:srgbClr val="0064D1">
                          <a:alpha val="0"/>
                        </a:srgb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05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4F8553FF-4D6F-4EFF-96E7-0E2511AFC1B0}"/>
                </a:ext>
              </a:extLst>
            </p:cNvPr>
            <p:cNvCxnSpPr/>
            <p:nvPr/>
          </p:nvCxnSpPr>
          <p:spPr>
            <a:xfrm>
              <a:off x="3173946" y="3225125"/>
              <a:ext cx="2737626" cy="0"/>
            </a:xfrm>
            <a:prstGeom prst="line">
              <a:avLst/>
            </a:prstGeom>
            <a:noFill/>
            <a:ln w="6350" cap="flat" cmpd="sng" algn="ctr">
              <a:solidFill>
                <a:srgbClr val="004EA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071983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不带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45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11BC0B-5268-428A-B6C7-3F4DD852397E}"/>
              </a:ext>
            </a:extLst>
          </p:cNvPr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255600" y="6185287"/>
            <a:ext cx="1555794" cy="24622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 lvl="0" algn="r">
              <a:defRPr sz="800">
                <a:latin typeface="Times New Roman" panose="02020603050405020304" pitchFamily="18" charset="0"/>
                <a:ea typeface="黑体" panose="02010609060101010101" pitchFamily="49" charset="-122"/>
                <a:cs typeface="OPPOSans R" panose="00020600040101010101" pitchFamily="18" charset="-122"/>
              </a:defRPr>
            </a:lvl1pPr>
            <a:lvl2pPr marL="742950" indent="-285750" eaLnBrk="0" hangingPunct="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l"/>
            <a:r>
              <a:rPr kumimoji="0" lang="en-US" altLang="zh-CN" sz="1000" b="0" i="0" u="none" strike="noStrike" kern="1200" cap="none" spc="0" normalizeH="0" baseline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pitchFamily="34" charset="-122"/>
                <a:cs typeface="Times New Roman" panose="02020603050405020304" pitchFamily="18" charset="0"/>
              </a:rPr>
              <a:t>Picture for reference only</a:t>
            </a:r>
            <a:endParaRPr kumimoji="0" lang="zh-CN" altLang="en-US" sz="1000" b="0" i="0" u="none" strike="noStrike" kern="1200" cap="none" spc="0" normalizeH="0" baseline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思源黑体 CN Regular" panose="020B05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06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127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11BC0B-5268-428A-B6C7-3F4DD852397E}"/>
              </a:ext>
            </a:extLst>
          </p:cNvPr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255600" y="6185287"/>
            <a:ext cx="1555794" cy="24622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 lvl="0" algn="r">
              <a:defRPr sz="800">
                <a:latin typeface="Times New Roman" panose="02020603050405020304" pitchFamily="18" charset="0"/>
                <a:ea typeface="黑体" panose="02010609060101010101" pitchFamily="49" charset="-122"/>
                <a:cs typeface="OPPOSans R" panose="00020600040101010101" pitchFamily="18" charset="-122"/>
              </a:defRPr>
            </a:lvl1pPr>
            <a:lvl2pPr marL="742950" indent="-285750" eaLnBrk="0" hangingPunct="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l"/>
            <a:r>
              <a:rPr kumimoji="0" lang="en-US" altLang="zh-CN" sz="1000" b="0" i="0" u="none" strike="noStrike" kern="1200" cap="none" spc="0" normalizeH="0" baseline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pitchFamily="34" charset="-122"/>
                <a:cs typeface="Times New Roman" panose="02020603050405020304" pitchFamily="18" charset="0"/>
              </a:rPr>
              <a:t>Picture for reference only</a:t>
            </a:r>
            <a:endParaRPr kumimoji="0" lang="zh-CN" altLang="en-US" sz="1000" b="0" i="0" u="none" strike="noStrike" kern="1200" cap="none" spc="0" normalizeH="0" baseline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思源黑体 CN Regular" panose="020B05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218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8218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theme" Target="../theme/theme2.xml"/><Relationship Id="rId10" Type="http://schemas.openxmlformats.org/officeDocument/2006/relationships/image" Target="../media/image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3.xml"/><Relationship Id="rId4" Type="http://schemas.openxmlformats.org/officeDocument/2006/relationships/image" Target="../media/image4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Relationship Id="rId3" Type="http://schemas.openxmlformats.org/officeDocument/2006/relationships/image" Target="../media/image5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E809211-D344-4E02-91FC-CB5184CF1B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66A4885-DA4A-47D1-8DD1-4A59413DD0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609" y="251080"/>
            <a:ext cx="1608519" cy="38464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7C5FEEF-64A5-48CF-B7A8-B4DA9A7EF9D9}"/>
              </a:ext>
            </a:extLst>
          </p:cNvPr>
          <p:cNvSpPr/>
          <p:nvPr userDrawn="1"/>
        </p:nvSpPr>
        <p:spPr>
          <a:xfrm>
            <a:off x="251837" y="6471661"/>
            <a:ext cx="43620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38860">
              <a:defRPr/>
            </a:pP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ea typeface="思源黑体 CN Regular" panose="020B0500000000000000" pitchFamily="34" charset="-122"/>
                <a:cs typeface="Times New Roman" panose="02020603050405020304" pitchFamily="18" charset="0"/>
              </a:rPr>
              <a:t>Confidential information of EVE, no spreading without permission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D8E4A7-EAB9-4D46-BC96-A59E718A42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34166" b="60556"/>
          <a:stretch/>
        </p:blipFill>
        <p:spPr>
          <a:xfrm>
            <a:off x="-9427" y="2772697"/>
            <a:ext cx="10473572" cy="31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58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35016-2951-481B-B908-D5C2A4B565D3}"/>
              </a:ext>
            </a:extLst>
          </p:cNvPr>
          <p:cNvCxnSpPr>
            <a:cxnSpLocks/>
          </p:cNvCxnSpPr>
          <p:nvPr userDrawn="1"/>
        </p:nvCxnSpPr>
        <p:spPr>
          <a:xfrm>
            <a:off x="0" y="6453188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5B31D1ED-4133-42A3-AD0F-5673288AC196}"/>
              </a:ext>
            </a:extLst>
          </p:cNvPr>
          <p:cNvSpPr/>
          <p:nvPr userDrawn="1"/>
        </p:nvSpPr>
        <p:spPr>
          <a:xfrm>
            <a:off x="255600" y="6537600"/>
            <a:ext cx="375443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0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pitchFamily="34" charset="-122"/>
                <a:cs typeface="Times New Roman" panose="02020603050405020304" pitchFamily="18" charset="0"/>
              </a:rPr>
              <a:t>Confidential information of EVE, no spreading without permission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C84330D-851E-4429-A43C-88F9F2EBE31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5875" y="6559200"/>
            <a:ext cx="950502" cy="23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7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35016-2951-481B-B908-D5C2A4B565D3}"/>
              </a:ext>
            </a:extLst>
          </p:cNvPr>
          <p:cNvCxnSpPr>
            <a:cxnSpLocks/>
          </p:cNvCxnSpPr>
          <p:nvPr userDrawn="1"/>
        </p:nvCxnSpPr>
        <p:spPr>
          <a:xfrm>
            <a:off x="0" y="6453188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5B31D1ED-4133-42A3-AD0F-5673288AC196}"/>
              </a:ext>
            </a:extLst>
          </p:cNvPr>
          <p:cNvSpPr/>
          <p:nvPr userDrawn="1"/>
        </p:nvSpPr>
        <p:spPr>
          <a:xfrm>
            <a:off x="255600" y="6537600"/>
            <a:ext cx="375443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038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pitchFamily="34" charset="-122"/>
                <a:cs typeface="Times New Roman" panose="02020603050405020304" pitchFamily="18" charset="0"/>
              </a:rPr>
              <a:t>Confidential information of EVE, no spreading without permission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C84330D-851E-4429-A43C-88F9F2EBE31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5875" y="6559200"/>
            <a:ext cx="950502" cy="23130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7BD2C66-2527-4443-AE13-16F318D68CA2}"/>
              </a:ext>
            </a:extLst>
          </p:cNvPr>
          <p:cNvSpPr/>
          <p:nvPr userDrawn="1"/>
        </p:nvSpPr>
        <p:spPr>
          <a:xfrm flipH="1">
            <a:off x="334800" y="255600"/>
            <a:ext cx="45719" cy="316507"/>
          </a:xfrm>
          <a:prstGeom prst="rect">
            <a:avLst/>
          </a:prstGeom>
          <a:solidFill>
            <a:srgbClr val="408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思源黑体 CN Regular" panose="020B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8378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D1AB27E-59B9-474D-9CBB-C8175EE9D6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493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1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Relationship Id="rId7" Type="http://schemas.openxmlformats.org/officeDocument/2006/relationships/tags" Target="../tags/tag11.xml"/><Relationship Id="rId8" Type="http://schemas.openxmlformats.org/officeDocument/2006/relationships/tags" Target="../tags/tag12.xml"/><Relationship Id="rId9" Type="http://schemas.openxmlformats.org/officeDocument/2006/relationships/tags" Target="../tags/tag13.xml"/><Relationship Id="rId10" Type="http://schemas.openxmlformats.org/officeDocument/2006/relationships/tags" Target="../tags/tag14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F7AB2A6-0B01-43CE-BD9A-0FF9532B4B12}"/>
              </a:ext>
            </a:extLst>
          </p:cNvPr>
          <p:cNvSpPr txBox="1"/>
          <p:nvPr/>
        </p:nvSpPr>
        <p:spPr>
          <a:xfrm>
            <a:off x="488660" y="2132218"/>
            <a:ext cx="11703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/>
                <a:cs typeface="Times New Roman" panose="02020603050405020304" pitchFamily="18" charset="0"/>
              </a:rPr>
              <a:t>{{P_MW}}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/>
                <a:cs typeface="Times New Roman" panose="02020603050405020304" pitchFamily="18" charset="0"/>
              </a:rPr>
              <a:t> MW/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/>
                <a:cs typeface="Times New Roman" panose="02020603050405020304" pitchFamily="18" charset="0"/>
              </a:rPr>
              <a:t>{{E_MWH}}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/>
                <a:cs typeface="Times New Roman" panose="02020603050405020304" pitchFamily="18" charset="0"/>
              </a:rPr>
              <a:t> MWh DC-side Utility BESS Proposal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A095A0-2E2D-4291-BF9C-C2464F7ECFF1}"/>
              </a:ext>
            </a:extLst>
          </p:cNvPr>
          <p:cNvSpPr txBox="1"/>
          <p:nvPr/>
        </p:nvSpPr>
        <p:spPr>
          <a:xfrm>
            <a:off x="488661" y="3578768"/>
            <a:ext cx="368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{{DATE}}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思源黑体 CN Regular" panose="020B050000000000000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32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5F551BC-900E-479B-87EE-5D05E15834C0}"/>
              </a:ext>
            </a:extLst>
          </p:cNvPr>
          <p:cNvGrpSpPr/>
          <p:nvPr/>
        </p:nvGrpSpPr>
        <p:grpSpPr>
          <a:xfrm>
            <a:off x="5288687" y="1879602"/>
            <a:ext cx="4540261" cy="2555309"/>
            <a:chOff x="5288687" y="1879602"/>
            <a:chExt cx="4540261" cy="255530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494377D-86DE-45B8-BBCE-285A277DBAA6}"/>
                </a:ext>
              </a:extLst>
            </p:cNvPr>
            <p:cNvGrpSpPr/>
            <p:nvPr/>
          </p:nvGrpSpPr>
          <p:grpSpPr>
            <a:xfrm>
              <a:off x="5288689" y="1879602"/>
              <a:ext cx="4540259" cy="492442"/>
              <a:chOff x="5140795" y="1060074"/>
              <a:chExt cx="4540259" cy="492442"/>
            </a:xfrm>
          </p:grpSpPr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4CD7ABEC-0CC4-4847-9E54-322BC08AB773}"/>
                  </a:ext>
                </a:extLst>
              </p:cNvPr>
              <p:cNvSpPr txBox="1"/>
              <p:nvPr/>
            </p:nvSpPr>
            <p:spPr>
              <a:xfrm>
                <a:off x="5140795" y="1060074"/>
                <a:ext cx="1130976" cy="4924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1038809" rtl="0" eaLnBrk="1" fontAlgn="auto" latinLnBrk="0" hangingPunct="1">
                  <a:lnSpc>
                    <a:spcPct val="100000"/>
                  </a:lnSpc>
                  <a:spcBef>
                    <a:spcPts val="267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7EC5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Regular" panose="020B0500000000000000" pitchFamily="34" charset="-122"/>
                    <a:cs typeface="Times New Roman" panose="02020603050405020304" pitchFamily="18" charset="0"/>
                    <a:sym typeface="+mn-ea"/>
                  </a:rPr>
                  <a:t>01</a:t>
                </a:r>
              </a:p>
            </p:txBody>
          </p:sp>
          <p:sp>
            <p:nvSpPr>
              <p:cNvPr id="13" name="TextBox 5">
                <a:extLst>
                  <a:ext uri="{FF2B5EF4-FFF2-40B4-BE49-F238E27FC236}">
                    <a16:creationId xmlns:a16="http://schemas.microsoft.com/office/drawing/2014/main" id="{F4D3D8DE-3214-4086-8268-AEBBCADE4B16}"/>
                  </a:ext>
                </a:extLst>
              </p:cNvPr>
              <p:cNvSpPr txBox="1"/>
              <p:nvPr/>
            </p:nvSpPr>
            <p:spPr>
              <a:xfrm>
                <a:off x="6406844" y="1127079"/>
                <a:ext cx="327421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1038809" rtl="0" eaLnBrk="1" fontAlgn="auto" latinLnBrk="0" hangingPunct="1">
                  <a:lnSpc>
                    <a:spcPct val="10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7EC5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Regular" panose="020B0500000000000000" pitchFamily="34" charset="-122"/>
                    <a:cs typeface="Times New Roman" panose="02020603050405020304" pitchFamily="18" charset="0"/>
                    <a:sym typeface="+mn-ea"/>
                  </a:rPr>
                  <a:t>Customer Requirement</a:t>
                </a:r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B06665D7-C132-4885-8882-7B2E932F2C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19502" y="1552516"/>
                <a:ext cx="3274211" cy="0"/>
              </a:xfrm>
              <a:prstGeom prst="line">
                <a:avLst/>
              </a:prstGeom>
              <a:ln w="9525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  <a:gs pos="5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01473DD-EBA8-4D80-951B-F2912B4C3D87}"/>
                </a:ext>
              </a:extLst>
            </p:cNvPr>
            <p:cNvGrpSpPr/>
            <p:nvPr/>
          </p:nvGrpSpPr>
          <p:grpSpPr>
            <a:xfrm>
              <a:off x="5288689" y="2911035"/>
              <a:ext cx="4540259" cy="492442"/>
              <a:chOff x="5140794" y="1845288"/>
              <a:chExt cx="4540259" cy="492442"/>
            </a:xfrm>
          </p:grpSpPr>
          <p:sp>
            <p:nvSpPr>
              <p:cNvPr id="9" name="TextBox 5">
                <a:extLst>
                  <a:ext uri="{FF2B5EF4-FFF2-40B4-BE49-F238E27FC236}">
                    <a16:creationId xmlns:a16="http://schemas.microsoft.com/office/drawing/2014/main" id="{A0BB7597-65AE-4C61-8990-30FA619D2183}"/>
                  </a:ext>
                </a:extLst>
              </p:cNvPr>
              <p:cNvSpPr txBox="1"/>
              <p:nvPr/>
            </p:nvSpPr>
            <p:spPr>
              <a:xfrm>
                <a:off x="5140794" y="1845288"/>
                <a:ext cx="1130976" cy="4924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marR="0" lvl="0" indent="0" algn="ctr" defTabSz="1038809" fontAlgn="auto">
                  <a:lnSpc>
                    <a:spcPct val="100000"/>
                  </a:lnSpc>
                  <a:spcBef>
                    <a:spcPts val="267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200" b="1" i="0" u="none" strike="noStrike" cap="none" spc="0" normalizeH="0" baseline="0">
                    <a:ln>
                      <a:noFill/>
                    </a:ln>
                    <a:solidFill>
                      <a:srgbClr val="217EC5"/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思源黑体 CN Bold" panose="020B0800000000000000" pitchFamily="34" charset="-122"/>
                  </a:defRPr>
                </a:lvl1pPr>
              </a:lstStyle>
              <a:p>
                <a:pPr marL="0" marR="0" lvl="0" indent="0" algn="ctr" defTabSz="1038809" rtl="0" eaLnBrk="1" fontAlgn="auto" latinLnBrk="0" hangingPunct="1">
                  <a:lnSpc>
                    <a:spcPct val="100000"/>
                  </a:lnSpc>
                  <a:spcBef>
                    <a:spcPts val="267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7EC5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Regular" panose="020B0500000000000000" pitchFamily="34" charset="-122"/>
                    <a:cs typeface="Times New Roman" panose="02020603050405020304" pitchFamily="18" charset="0"/>
                    <a:sym typeface="+mn-ea"/>
                  </a:rPr>
                  <a:t>02</a:t>
                </a:r>
              </a:p>
            </p:txBody>
          </p:sp>
          <p:sp>
            <p:nvSpPr>
              <p:cNvPr id="10" name="TextBox 5">
                <a:extLst>
                  <a:ext uri="{FF2B5EF4-FFF2-40B4-BE49-F238E27FC236}">
                    <a16:creationId xmlns:a16="http://schemas.microsoft.com/office/drawing/2014/main" id="{4DA23236-4ACE-4F8A-B007-720D9955D503}"/>
                  </a:ext>
                </a:extLst>
              </p:cNvPr>
              <p:cNvSpPr txBox="1"/>
              <p:nvPr/>
            </p:nvSpPr>
            <p:spPr>
              <a:xfrm>
                <a:off x="6406843" y="1872707"/>
                <a:ext cx="327421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marR="0" lvl="0" indent="0" defTabSz="1038809" fontAlgn="auto">
                  <a:lnSpc>
                    <a:spcPct val="10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217EC5"/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思源黑体 CN Bold" panose="020B0800000000000000" pitchFamily="34" charset="-122"/>
                  </a:defRPr>
                </a:lvl1pPr>
              </a:lstStyle>
              <a:p>
                <a:pPr marL="0" marR="0" lvl="0" indent="0" algn="l" defTabSz="1038809" rtl="0" eaLnBrk="1" fontAlgn="auto" latinLnBrk="0" hangingPunct="1">
                  <a:lnSpc>
                    <a:spcPct val="10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7EC5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Regular" panose="020B0500000000000000" pitchFamily="34" charset="-122"/>
                    <a:cs typeface="Times New Roman" panose="02020603050405020304" pitchFamily="18" charset="0"/>
                    <a:sym typeface="+mn-ea"/>
                  </a:rPr>
                  <a:t>Project Proposal</a:t>
                </a:r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2C767005-218C-4F53-AAF5-1E5DB419DE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19501" y="2337730"/>
                <a:ext cx="3274211" cy="0"/>
              </a:xfrm>
              <a:prstGeom prst="line">
                <a:avLst/>
              </a:prstGeom>
              <a:ln w="9525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  <a:gs pos="5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EED441C-DC03-4ADA-B093-0D7D016F2212}"/>
                </a:ext>
              </a:extLst>
            </p:cNvPr>
            <p:cNvGrpSpPr/>
            <p:nvPr/>
          </p:nvGrpSpPr>
          <p:grpSpPr>
            <a:xfrm>
              <a:off x="5288687" y="3942469"/>
              <a:ext cx="4540261" cy="492442"/>
              <a:chOff x="5140794" y="2564179"/>
              <a:chExt cx="4540261" cy="49244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A20D05-781F-4B58-8A9D-AF906DE22F20}"/>
                  </a:ext>
                </a:extLst>
              </p:cNvPr>
              <p:cNvSpPr txBox="1"/>
              <p:nvPr/>
            </p:nvSpPr>
            <p:spPr>
              <a:xfrm>
                <a:off x="5140794" y="2564179"/>
                <a:ext cx="1130976" cy="4924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marR="0" lvl="0" indent="0" algn="ctr" defTabSz="1038809" fontAlgn="auto">
                  <a:lnSpc>
                    <a:spcPct val="100000"/>
                  </a:lnSpc>
                  <a:spcBef>
                    <a:spcPts val="267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3200" b="1" i="0" u="none" strike="noStrike" cap="none" spc="0" normalizeH="0" baseline="0">
                    <a:ln>
                      <a:noFill/>
                    </a:ln>
                    <a:solidFill>
                      <a:srgbClr val="217EC5"/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思源黑体 CN Bold" panose="020B0800000000000000" pitchFamily="34" charset="-122"/>
                  </a:defRPr>
                </a:lvl1pPr>
              </a:lstStyle>
              <a:p>
                <a:pPr marL="0" marR="0" lvl="0" indent="0" algn="ctr" defTabSz="1038809" rtl="0" eaLnBrk="1" fontAlgn="auto" latinLnBrk="0" hangingPunct="1">
                  <a:lnSpc>
                    <a:spcPct val="100000"/>
                  </a:lnSpc>
                  <a:spcBef>
                    <a:spcPts val="267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7EC5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Regular" panose="020B0500000000000000" pitchFamily="34" charset="-122"/>
                    <a:cs typeface="Times New Roman" panose="02020603050405020304" pitchFamily="18" charset="0"/>
                    <a:sym typeface="+mn-ea"/>
                  </a:rPr>
                  <a:t>03</a:t>
                </a:r>
              </a:p>
            </p:txBody>
          </p:sp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483B3FD7-4FF0-4F77-8D2F-13CF79A11CBD}"/>
                  </a:ext>
                </a:extLst>
              </p:cNvPr>
              <p:cNvSpPr txBox="1"/>
              <p:nvPr/>
            </p:nvSpPr>
            <p:spPr>
              <a:xfrm>
                <a:off x="6406845" y="2591598"/>
                <a:ext cx="3274210" cy="3692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marR="0" lvl="0" indent="0" defTabSz="1038809" fontAlgn="auto">
                  <a:lnSpc>
                    <a:spcPct val="10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400" b="0" i="0" u="none" strike="noStrike" cap="none" spc="0" normalizeH="0" baseline="0">
                    <a:ln>
                      <a:noFill/>
                    </a:ln>
                    <a:solidFill>
                      <a:srgbClr val="217EC5"/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思源黑体 CN Bold" panose="020B0800000000000000" pitchFamily="34" charset="-122"/>
                  </a:defRPr>
                </a:lvl1pPr>
              </a:lstStyle>
              <a:p>
                <a:pPr marL="0" marR="0" lvl="0" indent="0" algn="l" defTabSz="1038809" rtl="0" eaLnBrk="1" fontAlgn="auto" latinLnBrk="0" hangingPunct="1">
                  <a:lnSpc>
                    <a:spcPct val="100000"/>
                  </a:lnSpc>
                  <a:spcBef>
                    <a:spcPts val="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7EC5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Regular" panose="020B0500000000000000" pitchFamily="34" charset="-122"/>
                    <a:cs typeface="Times New Roman" panose="02020603050405020304" pitchFamily="18" charset="0"/>
                    <a:sym typeface="+mn-ea"/>
                  </a:rPr>
                  <a:t>Project Delivery Scope</a:t>
                </a: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E793D49A-4837-4DFA-8E77-64567A1656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19501" y="3056621"/>
                <a:ext cx="3274210" cy="0"/>
              </a:xfrm>
              <a:prstGeom prst="line">
                <a:avLst/>
              </a:prstGeom>
              <a:ln w="9525"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  <a:gs pos="5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1362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7A44BC69-F4E4-43B5-973D-B659D178B685}"/>
              </a:ext>
            </a:extLst>
          </p:cNvPr>
          <p:cNvSpPr txBox="1"/>
          <p:nvPr/>
        </p:nvSpPr>
        <p:spPr>
          <a:xfrm>
            <a:off x="381599" y="226800"/>
            <a:ext cx="4688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1  Customer Requirement — Project 1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8A8AF99-26DA-4C69-994E-BE6A749AA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043166"/>
              </p:ext>
            </p:extLst>
          </p:nvPr>
        </p:nvGraphicFramePr>
        <p:xfrm>
          <a:off x="387099" y="701876"/>
          <a:ext cx="11417802" cy="54689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224">
                  <a:extLst>
                    <a:ext uri="{9D8B030D-6E8A-4147-A177-3AD203B41FA5}">
                      <a16:colId xmlns:a16="http://schemas.microsoft.com/office/drawing/2014/main" val="2473472454"/>
                    </a:ext>
                  </a:extLst>
                </a:gridCol>
                <a:gridCol w="1861197">
                  <a:extLst>
                    <a:ext uri="{9D8B030D-6E8A-4147-A177-3AD203B41FA5}">
                      <a16:colId xmlns:a16="http://schemas.microsoft.com/office/drawing/2014/main" val="19212124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13085770"/>
                    </a:ext>
                  </a:extLst>
                </a:gridCol>
                <a:gridCol w="3850640">
                  <a:extLst>
                    <a:ext uri="{9D8B030D-6E8A-4147-A177-3AD203B41FA5}">
                      <a16:colId xmlns:a16="http://schemas.microsoft.com/office/drawing/2014/main" val="3670403979"/>
                    </a:ext>
                  </a:extLst>
                </a:gridCol>
                <a:gridCol w="1685541">
                  <a:extLst>
                    <a:ext uri="{9D8B030D-6E8A-4147-A177-3AD203B41FA5}">
                      <a16:colId xmlns:a16="http://schemas.microsoft.com/office/drawing/2014/main" val="3818493270"/>
                    </a:ext>
                  </a:extLst>
                </a:gridCol>
              </a:tblGrid>
              <a:tr h="371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requirement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 proposal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Meet or not meet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129120"/>
                  </a:ext>
                </a:extLst>
              </a:tr>
              <a:tr h="371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scenario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Utility BESS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Utility BESS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{{MEET_1}}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456222"/>
                  </a:ext>
                </a:extLst>
              </a:tr>
              <a:tr h="371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 scope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20ft HC container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20ft HC container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{{MEET_2}}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430013"/>
                  </a:ext>
                </a:extLst>
              </a:tr>
              <a:tr h="371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power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{{REQ_POWER}}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{{EVE_POWER}}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{{MEET_3}}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18742"/>
                  </a:ext>
                </a:extLst>
              </a:tr>
              <a:tr h="11544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energy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{{REQ_ENERGY}}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sz="1300">
                          <a:latin typeface="Times New Roman"/>
                        </a:rPr>
                        <a:t>{{EVE_ENERGY_AC}}</a:t>
                      </a:r>
                    </a:p>
                  </a:txBody>
                  <a:tcPr marL="8467" marR="8467" marT="120000" marB="120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{{MEET_4}}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763679"/>
                  </a:ext>
                </a:extLst>
              </a:tr>
              <a:tr h="371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Charge/discharge rate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{{REQ_RATE}}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{{EVE_RATE}}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{{MEET_5}}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830298"/>
                  </a:ext>
                </a:extLst>
              </a:tr>
              <a:tr h="371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cycles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{{REQ_CYCLES}}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{{EVE_CYCLES}}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{{MEET_6}}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944216"/>
                  </a:ext>
                </a:extLst>
              </a:tr>
              <a:tr h="371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DOD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{{REQ_DOD}}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{{EVE_DOD}}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{{MEET_7}}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69836"/>
                  </a:ext>
                </a:extLst>
              </a:tr>
              <a:tr h="371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warranty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{{REQ_STD_WARRANTY}}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{{EVE_STD_WARRANTY}}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{{MEET_8}}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525362"/>
                  </a:ext>
                </a:extLst>
              </a:tr>
              <a:tr h="371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Extended warranty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{{REQ_EXT_WARRANTY}}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{{EVE_EXT_WARRANTY}}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{{MEET_9}}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350347"/>
                  </a:ext>
                </a:extLst>
              </a:tr>
              <a:tr h="371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 mode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{{REQ_COMM}}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{{EVE_COMM}}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{{MEET_10}}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758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Certifications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b</a:t>
                      </a:r>
                      <a:r>
                        <a:rPr lang="en-US" altLang="zh-CN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 discussed</a:t>
                      </a:r>
                      <a:endParaRPr lang="en-US" sz="13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{{EVE_CERT_LIST}}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//To b</a:t>
                      </a:r>
                      <a:r>
                        <a:rPr lang="en-US" altLang="zh-CN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 discussed</a:t>
                      </a:r>
                      <a:endParaRPr lang="en-US" altLang="zh-C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619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7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98ACD1AD-8EE5-4F36-ABB0-0DF01DD2F242}"/>
              </a:ext>
            </a:extLst>
          </p:cNvPr>
          <p:cNvSpPr txBox="1"/>
          <p:nvPr/>
        </p:nvSpPr>
        <p:spPr>
          <a:xfrm>
            <a:off x="381599" y="226800"/>
            <a:ext cx="6384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2 Project Proposal — Sizing and Augmentation Plan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19B4F21-9B49-4C2B-862E-51DB10993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975182"/>
              </p:ext>
            </p:extLst>
          </p:nvPr>
        </p:nvGraphicFramePr>
        <p:xfrm>
          <a:off x="358138" y="1011817"/>
          <a:ext cx="9922203" cy="3657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7401">
                  <a:extLst>
                    <a:ext uri="{9D8B030D-6E8A-4147-A177-3AD203B41FA5}">
                      <a16:colId xmlns:a16="http://schemas.microsoft.com/office/drawing/2014/main" val="2336609756"/>
                    </a:ext>
                  </a:extLst>
                </a:gridCol>
                <a:gridCol w="3307401">
                  <a:extLst>
                    <a:ext uri="{9D8B030D-6E8A-4147-A177-3AD203B41FA5}">
                      <a16:colId xmlns:a16="http://schemas.microsoft.com/office/drawing/2014/main" val="2106649332"/>
                    </a:ext>
                  </a:extLst>
                </a:gridCol>
                <a:gridCol w="3307401">
                  <a:extLst>
                    <a:ext uri="{9D8B030D-6E8A-4147-A177-3AD203B41FA5}">
                      <a16:colId xmlns:a16="http://schemas.microsoft.com/office/drawing/2014/main" val="1200449243"/>
                    </a:ext>
                  </a:extLst>
                </a:gridCol>
              </a:tblGrid>
              <a:tr h="52254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sizing plan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01" marR="6801" marT="6801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Project {{P_MW}}MW/{{E_MWH_DC}}MWh @BOL @DC @Nameplate energy</a:t>
                      </a:r>
                      <a:endParaRPr lang="en-US" sz="1300" b="1" u="none" strike="noStrike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116145"/>
                  </a:ext>
                </a:extLst>
              </a:tr>
              <a:tr h="5225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Nameplate energy </a:t>
                      </a:r>
                      <a:br>
                        <a:rPr lang="en-US" sz="13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(MWh)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3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20ft HC container qty.</a:t>
                      </a:r>
                      <a:br>
                        <a:rPr lang="fr-FR" sz="13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fr-FR" sz="13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(pcs)</a:t>
                      </a:r>
                      <a:endParaRPr lang="fr-FR" sz="13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697863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project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01" marR="6801" marT="6801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{{E_MWH_DC}}</a:t>
                      </a: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{{CONTAINER_QTY}}</a:t>
                      </a: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973438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1st Augmentation </a:t>
                      </a:r>
                      <a:b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@5th year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01" marR="6801" marT="6801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{{AUG1_MWH}}</a:t>
                      </a: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{{AUG1_QTY}}</a:t>
                      </a: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630363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2nd Augmentation </a:t>
                      </a:r>
                      <a:b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@10th year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01" marR="6801" marT="6801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{{AUG2_MWH}}</a:t>
                      </a: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{{AUG2_QTY}}</a:t>
                      </a: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827426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3rd Augmentation </a:t>
                      </a:r>
                      <a:br>
                        <a:rPr lang="en-US" sz="13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@15th year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01" marR="6801" marT="6801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{{AUG3_MWH}}</a:t>
                      </a: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{{AUG3_QTY}}</a:t>
                      </a: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737077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installation</a:t>
                      </a:r>
                      <a:endParaRPr lang="en-US" sz="13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01" marR="6801" marT="6801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{{E_MWH_DC}}</a:t>
                      </a: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300">
                          <a:latin typeface="Times New Roman"/>
                        </a:rPr>
                        <a:t>{{CONTAINER_QTY}}</a:t>
                      </a:r>
                    </a:p>
                  </a:txBody>
                  <a:tcPr marL="6801" marR="6801" marT="680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14364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60C80AB-9EED-4BFC-A4D1-ECA8AC3FABE8}"/>
              </a:ext>
            </a:extLst>
          </p:cNvPr>
          <p:cNvSpPr txBox="1"/>
          <p:nvPr/>
        </p:nvSpPr>
        <p:spPr>
          <a:xfrm>
            <a:off x="525780" y="4936127"/>
            <a:ext cx="11193661" cy="128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/>
                <a:cs typeface="Times New Roman" panose="02020603050405020304" pitchFamily="18" charset="0"/>
              </a:rPr>
              <a:t>Note:</a:t>
            </a:r>
          </a:p>
          <a:p>
            <a:pPr marL="304792" marR="0" lvl="0" indent="-304792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/>
                <a:cs typeface="Times New Roman" panose="02020603050405020304" pitchFamily="18" charset="0"/>
              </a:rPr>
              <a:t>Above proposed project sizing and augmentation plan is made by simulation data based on existing information. </a:t>
            </a:r>
          </a:p>
          <a:p>
            <a:pPr marL="304792" marR="0" lvl="0" indent="-304792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/>
                <a:cs typeface="Times New Roman" panose="02020603050405020304" pitchFamily="18" charset="0"/>
              </a:rPr>
              <a:t>Reserve the right to change the plan as the deeper information change.</a:t>
            </a:r>
          </a:p>
          <a:p>
            <a:pPr marL="304792" marR="0" lvl="0" indent="-304792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/>
                <a:cs typeface="Times New Roman" panose="02020603050405020304" pitchFamily="18" charset="0"/>
              </a:rPr>
              <a:t>Detailed calculation pls. refer to </a:t>
            </a:r>
            <a:r>
              <a:rPr lang="en-US" altLang="zh-CN" sz="1333" dirty="0">
                <a:solidFill>
                  <a:prstClr val="black"/>
                </a:solidFill>
                <a:latin typeface="Times New Roman" panose="02020603050405020304" pitchFamily="18" charset="0"/>
                <a:ea typeface="思源黑体 CN Normal" panose="020B0400000000000000"/>
                <a:cs typeface="Times New Roman" panose="02020603050405020304" pitchFamily="18" charset="0"/>
              </a:rPr>
              <a:t>  page 15 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/>
                <a:cs typeface="Times New Roman" panose="02020603050405020304" pitchFamily="18" charset="0"/>
              </a:rPr>
              <a:t>project sizing and augmentation calculation&gt;.</a:t>
            </a:r>
          </a:p>
        </p:txBody>
      </p:sp>
    </p:spTree>
    <p:extLst>
      <p:ext uri="{BB962C8B-B14F-4D97-AF65-F5344CB8AC3E}">
        <p14:creationId xmlns:p14="http://schemas.microsoft.com/office/powerpoint/2010/main" val="2162714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E9BF4AD2-A9B1-4759-9B2C-F6D7E6198C0B}"/>
              </a:ext>
            </a:extLst>
          </p:cNvPr>
          <p:cNvSpPr txBox="1"/>
          <p:nvPr/>
        </p:nvSpPr>
        <p:spPr>
          <a:xfrm>
            <a:off x="381599" y="226800"/>
            <a:ext cx="760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2 Project Proposal — System Description of Project 1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F025B3E-1655-4317-9782-70BB55B0A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11086"/>
              </p:ext>
            </p:extLst>
          </p:nvPr>
        </p:nvGraphicFramePr>
        <p:xfrm>
          <a:off x="506730" y="1046954"/>
          <a:ext cx="11178540" cy="52058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78540">
                  <a:extLst>
                    <a:ext uri="{9D8B030D-6E8A-4147-A177-3AD203B41FA5}">
                      <a16:colId xmlns:a16="http://schemas.microsoft.com/office/drawing/2014/main" val="1665505944"/>
                    </a:ext>
                  </a:extLst>
                </a:gridCol>
              </a:tblGrid>
              <a:tr h="50799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The initial project proposal is consisted of {{CONTAINER_QTY}} BESS units as {{P_MW}}MW/{{E_MWH_DC}}MWh in total.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03" marR="7303" marT="96000" marB="9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18600"/>
                  </a:ext>
                </a:extLst>
              </a:tr>
              <a:tr h="4358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BESS unit includes components as following:</a:t>
                      </a:r>
                    </a:p>
                  </a:txBody>
                  <a:tcPr marL="7303" marR="7303" marT="96000" marB="9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248364"/>
                  </a:ext>
                </a:extLst>
              </a:tr>
              <a:tr h="224482"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6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pc {{CONTAINER_ENERGY_MWH}}MWh 20ft HC battery container system. (EVE supply)</a:t>
                      </a:r>
                    </a:p>
                  </a:txBody>
                  <a:tcPr marL="131445" marR="7303" marT="96000" marB="9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286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 pc {{SKID_MW}}MW 45ft skid configure with {{PCS_PER_SKID}} PCS rated power is {{PCS_KW}} kW. (EVE's partner supply)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altLang="zh-CN" sz="160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1445" marR="7303" marT="96000" marB="9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970437"/>
                  </a:ext>
                </a:extLst>
              </a:tr>
              <a:tr h="5314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One {{CONTAINER_ENERGY_MWH}}MWh 20ft HC container system includes key components as following: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03" marR="7303" marT="96000" marB="9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20081"/>
                  </a:ext>
                </a:extLst>
              </a:tr>
              <a:tr h="435840"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fr-FR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pc 20ft HC container.</a:t>
                      </a:r>
                      <a:endParaRPr lang="fr-FR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889" marR="7303" marT="96000" marB="9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290250"/>
                  </a:ext>
                </a:extLst>
              </a:tr>
              <a:tr h="435840"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{{CLUSTERS_PER_CONTAINER}} pcs battery cluster; 1 battery cluster consists {{PACKS_PER_CLUSTER}} pcs battery packs.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889" marR="7303" marT="96000" marB="9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746407"/>
                  </a:ext>
                </a:extLst>
              </a:tr>
              <a:tr h="435840"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pack consists {{CELLS_PER_PACK}} pcs LFP {{CELL_AH}}Ah ({{CELL_MODEL}}) battery cells in {{PACK_CONFIG}} configuration.</a:t>
                      </a:r>
                    </a:p>
                  </a:txBody>
                  <a:tcPr marL="262889" marR="7303" marT="96000" marB="9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974046"/>
                  </a:ext>
                </a:extLst>
              </a:tr>
              <a:tr h="435840"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pc {{COOLING_KW}}kW liquid cooling machine.</a:t>
                      </a:r>
                    </a:p>
                  </a:txBody>
                  <a:tcPr marL="262889" marR="7303" marT="96000" marB="9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93628"/>
                  </a:ext>
                </a:extLst>
              </a:tr>
              <a:tr h="435840"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pc DC combiner(also called as BCP). 1 pc DC combiner consists {{CLUSTERS_PER_CONTAINER}} channels DC access.</a:t>
                      </a:r>
                      <a:endParaRPr lang="en-US" altLang="zh-CN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62889" marR="7303" marT="96000" marB="9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841987"/>
                  </a:ext>
                </a:extLst>
              </a:tr>
              <a:tr h="435840"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pc fire suppression system (water spray + </a:t>
                      </a:r>
                      <a:r>
                        <a:rPr lang="en-US" altLang="zh-CN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chemical agent </a:t>
                      </a:r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system level).</a:t>
                      </a:r>
                    </a:p>
                  </a:txBody>
                  <a:tcPr marL="262889" marR="7303" marT="96000" marB="9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383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48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E9BF4AD2-A9B1-4759-9B2C-F6D7E6198C0B}"/>
              </a:ext>
            </a:extLst>
          </p:cNvPr>
          <p:cNvSpPr txBox="1"/>
          <p:nvPr/>
        </p:nvSpPr>
        <p:spPr>
          <a:xfrm>
            <a:off x="381599" y="226800"/>
            <a:ext cx="5125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2 Project Proposal — System Structure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FE697E5-B364-4745-ABA4-B9C60DADED3B}"/>
              </a:ext>
            </a:extLst>
          </p:cNvPr>
          <p:cNvSpPr txBox="1"/>
          <p:nvPr/>
        </p:nvSpPr>
        <p:spPr>
          <a:xfrm>
            <a:off x="6091784" y="6052981"/>
            <a:ext cx="6100216" cy="363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/>
                <a:cs typeface="Times New Roman" panose="02020603050405020304" pitchFamily="18" charset="0"/>
              </a:rPr>
              <a:t>Note: The structure is for reference and subject to the actual scope of supply.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9D06C1B-B38B-4B75-87D7-4CFA30BE7396}"/>
              </a:ext>
            </a:extLst>
          </p:cNvPr>
          <p:cNvGrpSpPr/>
          <p:nvPr/>
        </p:nvGrpSpPr>
        <p:grpSpPr>
          <a:xfrm>
            <a:off x="1294243" y="1025038"/>
            <a:ext cx="9127007" cy="4807923"/>
            <a:chOff x="1294243" y="1025038"/>
            <a:chExt cx="9127007" cy="4807923"/>
          </a:xfrm>
        </p:grpSpPr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B3CB62BA-3558-451C-918D-16C02703E2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8034" y="3119539"/>
              <a:ext cx="3181" cy="371253"/>
            </a:xfrm>
            <a:prstGeom prst="straightConnector1">
              <a:avLst/>
            </a:prstGeom>
            <a:ln w="38100">
              <a:solidFill>
                <a:srgbClr val="4081CF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DBA5357F-2402-4A1E-AD5C-DD6E025EF6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6478" y="3119539"/>
              <a:ext cx="0" cy="371253"/>
            </a:xfrm>
            <a:prstGeom prst="straightConnector1">
              <a:avLst/>
            </a:prstGeom>
            <a:ln w="38100">
              <a:solidFill>
                <a:srgbClr val="4081CF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271A066C-D539-4447-B85B-75F935F5B262}"/>
                </a:ext>
              </a:extLst>
            </p:cNvPr>
            <p:cNvCxnSpPr>
              <a:cxnSpLocks/>
            </p:cNvCxnSpPr>
            <p:nvPr/>
          </p:nvCxnSpPr>
          <p:spPr>
            <a:xfrm>
              <a:off x="5518515" y="4573185"/>
              <a:ext cx="590933" cy="0"/>
            </a:xfrm>
            <a:prstGeom prst="straightConnector1">
              <a:avLst/>
            </a:prstGeom>
            <a:ln w="38100">
              <a:solidFill>
                <a:srgbClr val="4081CF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8CCC6554-AB5F-4A66-89F2-2BA1CD850D54}"/>
                </a:ext>
              </a:extLst>
            </p:cNvPr>
            <p:cNvGrpSpPr/>
            <p:nvPr/>
          </p:nvGrpSpPr>
          <p:grpSpPr>
            <a:xfrm>
              <a:off x="6452164" y="3601181"/>
              <a:ext cx="3224680" cy="2231780"/>
              <a:chOff x="5021176" y="3244726"/>
              <a:chExt cx="2418510" cy="1673835"/>
            </a:xfrm>
          </p:grpSpPr>
          <p:sp>
            <p:nvSpPr>
              <p:cNvPr id="67" name="矩形: 圆角 66">
                <a:extLst>
                  <a:ext uri="{FF2B5EF4-FFF2-40B4-BE49-F238E27FC236}">
                    <a16:creationId xmlns:a16="http://schemas.microsoft.com/office/drawing/2014/main" id="{70D55E0B-EB6A-40F4-B322-A11206BAF80A}"/>
                  </a:ext>
                </a:extLst>
              </p:cNvPr>
              <p:cNvSpPr/>
              <p:nvPr/>
            </p:nvSpPr>
            <p:spPr>
              <a:xfrm>
                <a:off x="5021176" y="3244726"/>
                <a:ext cx="2161473" cy="1673835"/>
              </a:xfrm>
              <a:prstGeom prst="roundRect">
                <a:avLst>
                  <a:gd name="adj" fmla="val 3246"/>
                </a:avLst>
              </a:prstGeom>
              <a:solidFill>
                <a:srgbClr val="4081C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592E33C9-1D75-410D-9601-77B92CA9CC04}"/>
                  </a:ext>
                </a:extLst>
              </p:cNvPr>
              <p:cNvSpPr/>
              <p:nvPr/>
            </p:nvSpPr>
            <p:spPr>
              <a:xfrm>
                <a:off x="5163376" y="3570539"/>
                <a:ext cx="1772254" cy="10830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589" marR="0" lvl="0" indent="-228589" algn="l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Voltage {{CLUSTER_V}}V</a:t>
                </a:r>
              </a:p>
              <a:p>
                <a:pPr marL="228589" marR="0" lvl="0" indent="-228589" algn="l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Energy {{CLUSTER_ENERGY_KWH}}kWh</a:t>
                </a:r>
              </a:p>
              <a:p>
                <a:pPr marL="228589" marR="0" lvl="0" indent="-228589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Duration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≥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{{DURATION_H}}h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marL="228589" marR="0" lvl="0" indent="-228589" algn="l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1 PDU with {{CLUSTERS_PER_PDU}} clusters</a:t>
                </a:r>
              </a:p>
              <a:p>
                <a:pPr marL="228589" marR="0" lvl="0" indent="-228589" algn="l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SBMU inside PDU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13AF9FD9-A494-4670-930D-187BA28353A4}"/>
                  </a:ext>
                </a:extLst>
              </p:cNvPr>
              <p:cNvSpPr/>
              <p:nvPr/>
            </p:nvSpPr>
            <p:spPr>
              <a:xfrm>
                <a:off x="5139644" y="3324318"/>
                <a:ext cx="1057020" cy="2230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Cluster</a:t>
                </a:r>
                <a:r>
                  <a:rPr kumimoji="0" lang="zh-CN" altLang="en-US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-</a:t>
                </a:r>
                <a:r>
                  <a:rPr kumimoji="0" lang="zh-CN" altLang="en-US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{{CLUSTER_CONFIG}}</a:t>
                </a:r>
              </a:p>
            </p:txBody>
          </p:sp>
          <p:pic>
            <p:nvPicPr>
              <p:cNvPr id="70" name="图片 69">
                <a:extLst>
                  <a:ext uri="{FF2B5EF4-FFF2-40B4-BE49-F238E27FC236}">
                    <a16:creationId xmlns:a16="http://schemas.microsoft.com/office/drawing/2014/main" id="{9D325836-2517-4111-A5FD-22B6AF0961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E8EAED"/>
                  </a:clrFrom>
                  <a:clrTo>
                    <a:srgbClr val="E8EAED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89055" y="3324318"/>
                <a:ext cx="750631" cy="1559798"/>
              </a:xfrm>
              <a:prstGeom prst="rect">
                <a:avLst/>
              </a:prstGeom>
            </p:spPr>
          </p:pic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4AA8BF8-E073-4D1E-952C-1B132126C65C}"/>
                </a:ext>
              </a:extLst>
            </p:cNvPr>
            <p:cNvGrpSpPr/>
            <p:nvPr/>
          </p:nvGrpSpPr>
          <p:grpSpPr>
            <a:xfrm>
              <a:off x="6452164" y="1025038"/>
              <a:ext cx="3969086" cy="1944000"/>
              <a:chOff x="6452164" y="1025038"/>
              <a:chExt cx="3969086" cy="1944000"/>
            </a:xfrm>
          </p:grpSpPr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604B80EB-30D3-4171-8B01-0F0163F9A2CD}"/>
                  </a:ext>
                </a:extLst>
              </p:cNvPr>
              <p:cNvSpPr/>
              <p:nvPr/>
            </p:nvSpPr>
            <p:spPr>
              <a:xfrm>
                <a:off x="6452164" y="1025038"/>
                <a:ext cx="2881967" cy="1944000"/>
              </a:xfrm>
              <a:prstGeom prst="roundRect">
                <a:avLst>
                  <a:gd name="adj" fmla="val 3725"/>
                </a:avLst>
              </a:prstGeom>
              <a:solidFill>
                <a:srgbClr val="4081C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ctr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F78D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Bold" panose="020B0800000000000000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0B72E44-E42C-4214-8255-F0921EF46272}"/>
                  </a:ext>
                </a:extLst>
              </p:cNvPr>
              <p:cNvSpPr/>
              <p:nvPr/>
            </p:nvSpPr>
            <p:spPr>
              <a:xfrm>
                <a:off x="6577764" y="1412186"/>
                <a:ext cx="2427005" cy="11671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589" marR="0" lvl="0" indent="-228589" algn="l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Energy {{CONTAINER_ENERGY_MWH}}MWh</a:t>
                </a:r>
              </a:p>
              <a:p>
                <a:pPr marL="228589" marR="0" lvl="0" indent="-228589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Duration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≥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{{DURATION_H}}h</a:t>
                </a:r>
              </a:p>
              <a:p>
                <a:pPr marL="228589" marR="0" lvl="0" indent="-228589" algn="l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1 BCP with {{CLUSTERS_PER_CONTAINER}} clusters</a:t>
                </a:r>
              </a:p>
              <a:p>
                <a:pPr marL="228589" marR="0" lvl="0" indent="-228589" algn="l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MBMU inside BCP</a:t>
                </a:r>
              </a:p>
            </p:txBody>
          </p: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92A1FA3C-AE96-4253-81C7-04657DC13FA8}"/>
                  </a:ext>
                </a:extLst>
              </p:cNvPr>
              <p:cNvSpPr/>
              <p:nvPr/>
            </p:nvSpPr>
            <p:spPr>
              <a:xfrm>
                <a:off x="6614599" y="1142043"/>
                <a:ext cx="2404824" cy="2974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Container</a:t>
                </a:r>
                <a:r>
                  <a:rPr kumimoji="0" lang="zh-CN" altLang="en-US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–</a:t>
                </a:r>
                <a:r>
                  <a:rPr kumimoji="0" lang="zh-CN" altLang="en-US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Standard 20ft HC</a:t>
                </a:r>
              </a:p>
            </p:txBody>
          </p:sp>
          <p:pic>
            <p:nvPicPr>
              <p:cNvPr id="30" name="图片 29" descr="S5-0.5P 渲染图">
                <a:extLst>
                  <a:ext uri="{FF2B5EF4-FFF2-40B4-BE49-F238E27FC236}">
                    <a16:creationId xmlns:a16="http://schemas.microsoft.com/office/drawing/2014/main" id="{45114D6F-A3EA-467A-98E9-A7D566C5A6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485" t="4113" r="2511" b="1294"/>
              <a:stretch>
                <a:fillRect/>
              </a:stretch>
            </p:blipFill>
            <p:spPr>
              <a:xfrm>
                <a:off x="8498212" y="1194421"/>
                <a:ext cx="1923038" cy="1518366"/>
              </a:xfrm>
              <a:prstGeom prst="rect">
                <a:avLst/>
              </a:prstGeom>
            </p:spPr>
          </p:pic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C762411-E2C5-42D6-A67B-84F1EA96E5BD}"/>
                </a:ext>
              </a:extLst>
            </p:cNvPr>
            <p:cNvGrpSpPr/>
            <p:nvPr/>
          </p:nvGrpSpPr>
          <p:grpSpPr>
            <a:xfrm>
              <a:off x="1294243" y="3601184"/>
              <a:ext cx="3953469" cy="2223753"/>
              <a:chOff x="1294243" y="3601184"/>
              <a:chExt cx="3953469" cy="2223753"/>
            </a:xfrm>
          </p:grpSpPr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BE2DF516-8EF3-421B-907B-67FC60AEE019}"/>
                  </a:ext>
                </a:extLst>
              </p:cNvPr>
              <p:cNvSpPr/>
              <p:nvPr/>
            </p:nvSpPr>
            <p:spPr>
              <a:xfrm>
                <a:off x="1294243" y="3601184"/>
                <a:ext cx="2881992" cy="2223753"/>
              </a:xfrm>
              <a:prstGeom prst="roundRect">
                <a:avLst>
                  <a:gd name="adj" fmla="val 3433"/>
                </a:avLst>
              </a:prstGeom>
              <a:solidFill>
                <a:srgbClr val="4081C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t"/>
              <a:lstStyle/>
              <a:p>
                <a:pPr marL="0" marR="0" lvl="0" indent="0" algn="ctr" defTabSz="121914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EA142A45-FFB5-4D37-9B6C-53614D30A9EE}"/>
                  </a:ext>
                </a:extLst>
              </p:cNvPr>
              <p:cNvSpPr/>
              <p:nvPr/>
            </p:nvSpPr>
            <p:spPr>
              <a:xfrm>
                <a:off x="1444014" y="3963871"/>
                <a:ext cx="2235092" cy="17211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589" marR="0" lvl="0" indent="-228589" algn="l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Voltage {{PACK_V}}V</a:t>
                </a:r>
              </a:p>
              <a:p>
                <a:pPr marL="228589" marR="0" lvl="0" indent="-228589" algn="l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Capacity {{CELL_AH}}Ah</a:t>
                </a:r>
              </a:p>
              <a:p>
                <a:pPr marL="228589" marR="0" lvl="0" indent="-228589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Energy {{PACK_ENERGY_KWH}}kWh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  <a:p>
                <a:pPr marL="228589" marR="0" lvl="0" indent="-228589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Duration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≥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{{DURATION_H}}h</a:t>
                </a:r>
              </a:p>
              <a:p>
                <a:pPr marL="228589" marR="0" lvl="0" indent="-228589" algn="l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Integrated VCMU</a:t>
                </a:r>
              </a:p>
              <a:p>
                <a:pPr marL="228589" marR="0" lvl="0" indent="-228589" algn="l" defTabSz="121917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Liquid cooling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35344D83-54E6-4326-9353-EAC3368EEE63}"/>
                  </a:ext>
                </a:extLst>
              </p:cNvPr>
              <p:cNvSpPr/>
              <p:nvPr/>
            </p:nvSpPr>
            <p:spPr>
              <a:xfrm>
                <a:off x="1506375" y="3707304"/>
                <a:ext cx="1141659" cy="2974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12191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Pack</a:t>
                </a:r>
                <a:r>
                  <a:rPr kumimoji="0" lang="zh-CN" altLang="en-US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-</a:t>
                </a:r>
                <a:r>
                  <a:rPr kumimoji="0" lang="zh-CN" altLang="en-US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1333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Bold" panose="020B0800000000000000" pitchFamily="34" charset="-122"/>
                    <a:cs typeface="Times New Roman" panose="02020603050405020304" pitchFamily="18" charset="0"/>
                  </a:rPr>
                  <a:t>{{PACK_CONFIG}}</a:t>
                </a:r>
              </a:p>
            </p:txBody>
          </p:sp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4475926F-D7E4-4AC9-8518-BEBE23FD36FB}"/>
                  </a:ext>
                </a:extLst>
              </p:cNvPr>
              <p:cNvPicPr/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08" t="10503" r="7686" b="15543"/>
              <a:stretch>
                <a:fillRect/>
              </a:stretch>
            </p:blipFill>
            <p:spPr>
              <a:xfrm>
                <a:off x="3104749" y="3963871"/>
                <a:ext cx="2142963" cy="1437213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6D03DD8-74B3-4AA7-AF0C-5F5546C9A535}"/>
                </a:ext>
              </a:extLst>
            </p:cNvPr>
            <p:cNvGrpSpPr/>
            <p:nvPr/>
          </p:nvGrpSpPr>
          <p:grpSpPr>
            <a:xfrm>
              <a:off x="1294243" y="1025038"/>
              <a:ext cx="3680033" cy="1944000"/>
              <a:chOff x="1294243" y="1025038"/>
              <a:chExt cx="3680033" cy="1944000"/>
            </a:xfrm>
          </p:grpSpPr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C604D3FD-92F0-4FD8-AA16-5F2231C9BE22}"/>
                  </a:ext>
                </a:extLst>
              </p:cNvPr>
              <p:cNvGrpSpPr/>
              <p:nvPr/>
            </p:nvGrpSpPr>
            <p:grpSpPr>
              <a:xfrm>
                <a:off x="1294243" y="1025038"/>
                <a:ext cx="2881988" cy="1944000"/>
                <a:chOff x="1165673" y="911764"/>
                <a:chExt cx="2161491" cy="1458000"/>
              </a:xfrm>
            </p:grpSpPr>
            <p:sp>
              <p:nvSpPr>
                <p:cNvPr id="77" name="矩形: 圆角 76">
                  <a:extLst>
                    <a:ext uri="{FF2B5EF4-FFF2-40B4-BE49-F238E27FC236}">
                      <a16:creationId xmlns:a16="http://schemas.microsoft.com/office/drawing/2014/main" id="{9BE39311-1EF6-4AA4-A399-F39BDE79B484}"/>
                    </a:ext>
                  </a:extLst>
                </p:cNvPr>
                <p:cNvSpPr/>
                <p:nvPr/>
              </p:nvSpPr>
              <p:spPr>
                <a:xfrm>
                  <a:off x="1165673" y="911764"/>
                  <a:ext cx="2161491" cy="1458000"/>
                </a:xfrm>
                <a:prstGeom prst="roundRect">
                  <a:avLst>
                    <a:gd name="adj" fmla="val 3725"/>
                  </a:avLst>
                </a:prstGeom>
                <a:solidFill>
                  <a:srgbClr val="4081C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t"/>
                <a:lstStyle/>
                <a:p>
                  <a:pPr marL="0" marR="0" lvl="0" indent="0" algn="ctr" defTabSz="121914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78D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Normal" panose="020B0400000000000000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矩形 77">
                  <a:extLst>
                    <a:ext uri="{FF2B5EF4-FFF2-40B4-BE49-F238E27FC236}">
                      <a16:creationId xmlns:a16="http://schemas.microsoft.com/office/drawing/2014/main" id="{DC45E61E-41E5-42B2-90EB-9DB4B59B5203}"/>
                    </a:ext>
                  </a:extLst>
                </p:cNvPr>
                <p:cNvSpPr/>
                <p:nvPr/>
              </p:nvSpPr>
              <p:spPr>
                <a:xfrm>
                  <a:off x="1300373" y="1182324"/>
                  <a:ext cx="1696664" cy="108308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28589" marR="0" lvl="0" indent="-228589" algn="l" defTabSz="121917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Prismatic LFP cell</a:t>
                  </a: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  <a:p>
                  <a:pPr marL="228589" marR="0" lvl="0" indent="-228589" algn="l" defTabSz="121917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Voltage {{CELL_V}}V</a:t>
                  </a:r>
                </a:p>
                <a:p>
                  <a:pPr marL="228589" marR="0" lvl="0" indent="-228589" algn="l" defTabSz="121917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Capacity {{CELL_AH}}Ah</a:t>
                  </a:r>
                </a:p>
                <a:p>
                  <a:pPr marL="228589" marR="0" lvl="0" indent="-228589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Energy {{CELL_WH}}</a:t>
                  </a:r>
                  <a:r>
                    <a:rPr kumimoji="0" lang="en-US" altLang="zh-CN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Wh</a:t>
                  </a:r>
                  <a:endPara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endParaRPr>
                </a:p>
                <a:p>
                  <a:pPr marL="228589" marR="0" lvl="0" indent="-228589" algn="l" defTabSz="121917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微软雅黑" panose="020B0503020204020204" charset="-122"/>
                      <a:cs typeface="Times New Roman" panose="02020603050405020304" pitchFamily="18" charset="0"/>
                    </a:rPr>
                    <a:t>Density {{CELL_WH_KG}}Wh/kg</a:t>
                  </a:r>
                  <a:endPara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Normal" panose="020B0400000000000000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D69BD6FC-D3E9-43FA-9EDE-2F088D35FCD5}"/>
                    </a:ext>
                  </a:extLst>
                </p:cNvPr>
                <p:cNvSpPr/>
                <p:nvPr/>
              </p:nvSpPr>
              <p:spPr>
                <a:xfrm>
                  <a:off x="1308420" y="991479"/>
                  <a:ext cx="1296268" cy="2230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12191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333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思源黑体 CN Bold" panose="020B0800000000000000" pitchFamily="34" charset="-122"/>
                      <a:cs typeface="Times New Roman" panose="02020603050405020304" pitchFamily="18" charset="0"/>
                    </a:rPr>
                    <a:t>Cell – {{CELL_MODEL}} ({{CELL_AH}}Ah)</a:t>
                  </a:r>
                </a:p>
              </p:txBody>
            </p:sp>
          </p:grpSp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51ABA71B-04FA-47BF-922C-ED65BA6117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599" r="8390"/>
              <a:stretch/>
            </p:blipFill>
            <p:spPr>
              <a:xfrm>
                <a:off x="3338529" y="1428780"/>
                <a:ext cx="1635747" cy="1390590"/>
              </a:xfrm>
              <a:prstGeom prst="rect">
                <a:avLst/>
              </a:prstGeom>
              <a:ln>
                <a:noFill/>
              </a:ln>
              <a:effectLst/>
            </p:spPr>
          </p:pic>
        </p:grpSp>
      </p:grpSp>
    </p:spTree>
    <p:extLst>
      <p:ext uri="{BB962C8B-B14F-4D97-AF65-F5344CB8AC3E}">
        <p14:creationId xmlns:p14="http://schemas.microsoft.com/office/powerpoint/2010/main" val="372380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E9BF4AD2-A9B1-4759-9B2C-F6D7E6198C0B}"/>
              </a:ext>
            </a:extLst>
          </p:cNvPr>
          <p:cNvSpPr txBox="1"/>
          <p:nvPr/>
        </p:nvSpPr>
        <p:spPr>
          <a:xfrm>
            <a:off x="381599" y="226800"/>
            <a:ext cx="6486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2 Project Proposal — Topology Diagram </a:t>
            </a:r>
          </a:p>
        </p:txBody>
      </p: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240E818E-7E9A-471D-932C-D00D834590F7}"/>
              </a:ext>
            </a:extLst>
          </p:cNvPr>
          <p:cNvGrpSpPr/>
          <p:nvPr/>
        </p:nvGrpSpPr>
        <p:grpSpPr>
          <a:xfrm>
            <a:off x="561408" y="671959"/>
            <a:ext cx="11069183" cy="5514082"/>
            <a:chOff x="561408" y="634096"/>
            <a:chExt cx="11069183" cy="5514082"/>
          </a:xfrm>
        </p:grpSpPr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AE220FFA-0780-4FA6-B503-38E98BBDDDBD}"/>
                </a:ext>
              </a:extLst>
            </p:cNvPr>
            <p:cNvSpPr txBox="1"/>
            <p:nvPr/>
          </p:nvSpPr>
          <p:spPr>
            <a:xfrm>
              <a:off x="1216955" y="1662207"/>
              <a:ext cx="1245531" cy="242756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Liquid cooling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FF1ABE34-EF01-49CF-8517-B4EC0DB36C06}"/>
                </a:ext>
              </a:extLst>
            </p:cNvPr>
            <p:cNvSpPr txBox="1"/>
            <p:nvPr/>
          </p:nvSpPr>
          <p:spPr>
            <a:xfrm>
              <a:off x="6570417" y="1103883"/>
              <a:ext cx="155691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PCS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{{DC_BUS_V}}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C1DB3E5D-7920-474A-BB4D-3428AA7DEC07}"/>
                </a:ext>
              </a:extLst>
            </p:cNvPr>
            <p:cNvSpPr/>
            <p:nvPr/>
          </p:nvSpPr>
          <p:spPr>
            <a:xfrm>
              <a:off x="4369179" y="1953945"/>
              <a:ext cx="4876559" cy="656976"/>
            </a:xfrm>
            <a:prstGeom prst="rect">
              <a:avLst/>
            </a:prstGeom>
            <a:noFill/>
            <a:ln w="12700">
              <a:solidFill>
                <a:srgbClr val="004EA2"/>
              </a:solidFill>
              <a:prstDash val="lgDash"/>
            </a:ln>
            <a:effectLst>
              <a:outerShdw blurRad="190500" dist="127000" dir="18900000" algn="b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5010C0E7-1A85-4D70-A3B7-5FBC5F5E494C}"/>
                </a:ext>
              </a:extLst>
            </p:cNvPr>
            <p:cNvCxnSpPr>
              <a:cxnSpLocks/>
            </p:cNvCxnSpPr>
            <p:nvPr/>
          </p:nvCxnSpPr>
          <p:spPr>
            <a:xfrm>
              <a:off x="7194242" y="1467416"/>
              <a:ext cx="0" cy="602091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BB9E7F59-7E92-4414-B5DB-A4AD956160A2}"/>
                </a:ext>
              </a:extLst>
            </p:cNvPr>
            <p:cNvCxnSpPr>
              <a:cxnSpLocks/>
            </p:cNvCxnSpPr>
            <p:nvPr/>
          </p:nvCxnSpPr>
          <p:spPr>
            <a:xfrm>
              <a:off x="7511295" y="1467999"/>
              <a:ext cx="0" cy="595277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DA4E1E9D-9B5F-4106-BDF7-057403B2F39B}"/>
                </a:ext>
              </a:extLst>
            </p:cNvPr>
            <p:cNvSpPr/>
            <p:nvPr/>
          </p:nvSpPr>
          <p:spPr>
            <a:xfrm>
              <a:off x="561408" y="1576200"/>
              <a:ext cx="10950295" cy="4563286"/>
            </a:xfrm>
            <a:prstGeom prst="rect">
              <a:avLst/>
            </a:prstGeom>
            <a:noFill/>
            <a:ln w="9525">
              <a:solidFill>
                <a:srgbClr val="008ED3"/>
              </a:solidFill>
              <a:prstDash val="lgDash"/>
            </a:ln>
            <a:effectLst>
              <a:outerShdw blurRad="190500" dist="127000" dir="18900000" algn="b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F9BC23C0-F26E-44F1-ABED-638F8E1C4C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8202" y="979076"/>
              <a:ext cx="1008" cy="121691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6A2FB11A-CE84-46EF-B983-0BBD79E4B8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0796" y="975548"/>
              <a:ext cx="504" cy="121691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C3321DD9-DFC3-41C6-A83E-C3CDC14674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158" y="976007"/>
              <a:ext cx="1008" cy="121691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669644E9-D3A7-4A23-B284-4D21D5638DE9}"/>
                </a:ext>
              </a:extLst>
            </p:cNvPr>
            <p:cNvSpPr txBox="1"/>
            <p:nvPr/>
          </p:nvSpPr>
          <p:spPr>
            <a:xfrm>
              <a:off x="7005062" y="789900"/>
              <a:ext cx="12837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u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5B4D89B7-0ED5-4D7F-B9F1-22C2BBF7F913}"/>
                </a:ext>
              </a:extLst>
            </p:cNvPr>
            <p:cNvSpPr txBox="1"/>
            <p:nvPr/>
          </p:nvSpPr>
          <p:spPr>
            <a:xfrm>
              <a:off x="7278998" y="789900"/>
              <a:ext cx="15705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v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0FBC3CED-F03D-4B34-BD4C-BBD10C73C3F9}"/>
                </a:ext>
              </a:extLst>
            </p:cNvPr>
            <p:cNvSpPr txBox="1"/>
            <p:nvPr/>
          </p:nvSpPr>
          <p:spPr>
            <a:xfrm>
              <a:off x="7550035" y="789900"/>
              <a:ext cx="15705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w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3EB5A1E2-4E0F-4233-A1E9-16F5BCA22CA7}"/>
                </a:ext>
              </a:extLst>
            </p:cNvPr>
            <p:cNvSpPr txBox="1"/>
            <p:nvPr/>
          </p:nvSpPr>
          <p:spPr>
            <a:xfrm>
              <a:off x="10434664" y="1160800"/>
              <a:ext cx="778457" cy="2308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algn="ctr">
                <a:defRPr sz="675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EMS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6" name="文本框 185">
              <a:extLst>
                <a:ext uri="{FF2B5EF4-FFF2-40B4-BE49-F238E27FC236}">
                  <a16:creationId xmlns:a16="http://schemas.microsoft.com/office/drawing/2014/main" id="{1657EFFF-7F4B-4BF2-BD7A-8A3262D9C78C}"/>
                </a:ext>
              </a:extLst>
            </p:cNvPr>
            <p:cNvSpPr txBox="1"/>
            <p:nvPr/>
          </p:nvSpPr>
          <p:spPr>
            <a:xfrm>
              <a:off x="1216955" y="1986476"/>
              <a:ext cx="1245531" cy="242756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Fire suppression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C59FE9D0-655F-47B7-A08C-DB4448D291F2}"/>
                </a:ext>
              </a:extLst>
            </p:cNvPr>
            <p:cNvSpPr txBox="1"/>
            <p:nvPr/>
          </p:nvSpPr>
          <p:spPr>
            <a:xfrm>
              <a:off x="8286884" y="1086427"/>
              <a:ext cx="81573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Ethernet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8" name="文本框 187">
              <a:extLst>
                <a:ext uri="{FF2B5EF4-FFF2-40B4-BE49-F238E27FC236}">
                  <a16:creationId xmlns:a16="http://schemas.microsoft.com/office/drawing/2014/main" id="{15F3720C-C814-4BB9-96C2-319B5FDC4E28}"/>
                </a:ext>
              </a:extLst>
            </p:cNvPr>
            <p:cNvSpPr txBox="1"/>
            <p:nvPr/>
          </p:nvSpPr>
          <p:spPr>
            <a:xfrm>
              <a:off x="4437147" y="2140599"/>
              <a:ext cx="830355" cy="32450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MBMU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8736D31E-272E-4ABC-B12C-12A09E50085D}"/>
                </a:ext>
              </a:extLst>
            </p:cNvPr>
            <p:cNvCxnSpPr>
              <a:cxnSpLocks/>
            </p:cNvCxnSpPr>
            <p:nvPr/>
          </p:nvCxnSpPr>
          <p:spPr>
            <a:xfrm>
              <a:off x="6576344" y="2241484"/>
              <a:ext cx="1556913" cy="0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D9D4ACF1-D069-4517-83C4-FEB05F9C03A9}"/>
                </a:ext>
              </a:extLst>
            </p:cNvPr>
            <p:cNvCxnSpPr/>
            <p:nvPr/>
          </p:nvCxnSpPr>
          <p:spPr>
            <a:xfrm flipH="1" flipV="1">
              <a:off x="7130716" y="2071892"/>
              <a:ext cx="100695" cy="72392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005211D8-7184-481D-8F89-3828D4FF9099}"/>
                </a:ext>
              </a:extLst>
            </p:cNvPr>
            <p:cNvCxnSpPr>
              <a:cxnSpLocks/>
            </p:cNvCxnSpPr>
            <p:nvPr/>
          </p:nvCxnSpPr>
          <p:spPr>
            <a:xfrm>
              <a:off x="7230236" y="2141899"/>
              <a:ext cx="0" cy="95397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EF23A2F8-E895-46E3-B8AE-D31951BC4450}"/>
                </a:ext>
              </a:extLst>
            </p:cNvPr>
            <p:cNvCxnSpPr/>
            <p:nvPr/>
          </p:nvCxnSpPr>
          <p:spPr>
            <a:xfrm flipH="1" flipV="1">
              <a:off x="7420924" y="2069507"/>
              <a:ext cx="100695" cy="72392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DC50F572-0157-40C0-9BFD-2186C2B33FC6}"/>
                </a:ext>
              </a:extLst>
            </p:cNvPr>
            <p:cNvCxnSpPr>
              <a:cxnSpLocks/>
            </p:cNvCxnSpPr>
            <p:nvPr/>
          </p:nvCxnSpPr>
          <p:spPr>
            <a:xfrm>
              <a:off x="7520450" y="2134029"/>
              <a:ext cx="0" cy="103267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3B875AB9-5334-4C6C-9A0F-4E2FD2FDD069}"/>
                </a:ext>
              </a:extLst>
            </p:cNvPr>
            <p:cNvSpPr txBox="1"/>
            <p:nvPr/>
          </p:nvSpPr>
          <p:spPr>
            <a:xfrm>
              <a:off x="8753974" y="1967061"/>
              <a:ext cx="53601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DC Combiner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03D27E91-E5A5-41A5-9CAB-5215EEE72029}"/>
                </a:ext>
              </a:extLst>
            </p:cNvPr>
            <p:cNvCxnSpPr>
              <a:cxnSpLocks/>
            </p:cNvCxnSpPr>
            <p:nvPr/>
          </p:nvCxnSpPr>
          <p:spPr>
            <a:xfrm>
              <a:off x="6587199" y="2379813"/>
              <a:ext cx="1556913" cy="0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5EA1950B-031C-4B8B-A37C-9001E86313C3}"/>
                </a:ext>
              </a:extLst>
            </p:cNvPr>
            <p:cNvSpPr txBox="1"/>
            <p:nvPr/>
          </p:nvSpPr>
          <p:spPr>
            <a:xfrm>
              <a:off x="2624189" y="1577245"/>
              <a:ext cx="147256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CAN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0D3CE049-2805-453C-BB2D-D74E96F00BDD}"/>
                </a:ext>
              </a:extLst>
            </p:cNvPr>
            <p:cNvSpPr txBox="1"/>
            <p:nvPr/>
          </p:nvSpPr>
          <p:spPr>
            <a:xfrm>
              <a:off x="4889941" y="1085250"/>
              <a:ext cx="154312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CAN/Dry contact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FC7B7DAB-FBFE-4B1C-AE30-C73B0229AE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448" y="2844265"/>
              <a:ext cx="0" cy="335899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EBE64B0C-2D4D-4861-89BF-E53E8DDC10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0341" y="2718608"/>
              <a:ext cx="0" cy="461557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2EA02DBE-1DD7-472D-9DDF-E33F0A7957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6721" y="2710465"/>
              <a:ext cx="3690605" cy="8143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F124A036-5CD9-49B2-AD01-4486B84C9C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7327" y="2237299"/>
              <a:ext cx="3620" cy="473167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21A2040A-91A5-470F-84FB-9C8BE2708535}"/>
                </a:ext>
              </a:extLst>
            </p:cNvPr>
            <p:cNvCxnSpPr>
              <a:cxnSpLocks/>
            </p:cNvCxnSpPr>
            <p:nvPr/>
          </p:nvCxnSpPr>
          <p:spPr>
            <a:xfrm>
              <a:off x="3517315" y="2844265"/>
              <a:ext cx="3380804" cy="0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8CB199A9-E4F9-42EE-9927-DC1A489C9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8119" y="2379817"/>
              <a:ext cx="0" cy="456305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连接符: 肘形 203">
              <a:extLst>
                <a:ext uri="{FF2B5EF4-FFF2-40B4-BE49-F238E27FC236}">
                  <a16:creationId xmlns:a16="http://schemas.microsoft.com/office/drawing/2014/main" id="{BC74EF95-AA17-4FEE-A18B-AEA81083A9C7}"/>
                </a:ext>
              </a:extLst>
            </p:cNvPr>
            <p:cNvCxnSpPr>
              <a:cxnSpLocks/>
              <a:stCxn id="248" idx="1"/>
              <a:endCxn id="188" idx="2"/>
            </p:cNvCxnSpPr>
            <p:nvPr/>
          </p:nvCxnSpPr>
          <p:spPr>
            <a:xfrm rot="10800000" flipH="1">
              <a:off x="1534148" y="2465109"/>
              <a:ext cx="3318175" cy="1008015"/>
            </a:xfrm>
            <a:prstGeom prst="bentConnector4">
              <a:avLst>
                <a:gd name="adj1" fmla="val -9186"/>
                <a:gd name="adj2" fmla="val 80933"/>
              </a:avLst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0282AFDA-50EF-41A5-B8F6-4F8352EEEDFD}"/>
                </a:ext>
              </a:extLst>
            </p:cNvPr>
            <p:cNvSpPr txBox="1"/>
            <p:nvPr/>
          </p:nvSpPr>
          <p:spPr>
            <a:xfrm>
              <a:off x="2408381" y="2474153"/>
              <a:ext cx="81573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CAN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4E7D02C2-E391-4119-BC9E-706A90E2D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490" y="2850852"/>
              <a:ext cx="0" cy="304411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20B91BDA-FA37-409A-BB89-B2B1FA738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6795" y="2741776"/>
              <a:ext cx="0" cy="413488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BD15F327-E042-4593-9321-179BD21A82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6660" y="2733633"/>
              <a:ext cx="1270136" cy="8143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05195A53-A3DF-4E2F-AB98-A1E8F683F9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6660" y="2232916"/>
              <a:ext cx="0" cy="500717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1ACA4EE7-494D-41F5-AE28-35388D6321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9488" y="2834829"/>
              <a:ext cx="952001" cy="9436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0E791C58-55FE-4B9A-B77A-DAEBBF2B1F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9488" y="2375435"/>
              <a:ext cx="0" cy="460688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流程图: 接点 211">
              <a:extLst>
                <a:ext uri="{FF2B5EF4-FFF2-40B4-BE49-F238E27FC236}">
                  <a16:creationId xmlns:a16="http://schemas.microsoft.com/office/drawing/2014/main" id="{459E804C-C325-4C19-9463-CCB7C58ED002}"/>
                </a:ext>
              </a:extLst>
            </p:cNvPr>
            <p:cNvSpPr/>
            <p:nvPr/>
          </p:nvSpPr>
          <p:spPr>
            <a:xfrm>
              <a:off x="4493761" y="4142438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3" name="流程图: 接点 212">
              <a:extLst>
                <a:ext uri="{FF2B5EF4-FFF2-40B4-BE49-F238E27FC236}">
                  <a16:creationId xmlns:a16="http://schemas.microsoft.com/office/drawing/2014/main" id="{4CDC95AB-5DDF-494F-A901-5E90D6791209}"/>
                </a:ext>
              </a:extLst>
            </p:cNvPr>
            <p:cNvSpPr/>
            <p:nvPr/>
          </p:nvSpPr>
          <p:spPr>
            <a:xfrm>
              <a:off x="4787365" y="4142438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4" name="流程图: 接点 213">
              <a:extLst>
                <a:ext uri="{FF2B5EF4-FFF2-40B4-BE49-F238E27FC236}">
                  <a16:creationId xmlns:a16="http://schemas.microsoft.com/office/drawing/2014/main" id="{78177C7C-6C12-41D5-A528-6E91CEAE118C}"/>
                </a:ext>
              </a:extLst>
            </p:cNvPr>
            <p:cNvSpPr/>
            <p:nvPr/>
          </p:nvSpPr>
          <p:spPr>
            <a:xfrm>
              <a:off x="5071820" y="4142438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" name="流程图: 接点 214">
              <a:extLst>
                <a:ext uri="{FF2B5EF4-FFF2-40B4-BE49-F238E27FC236}">
                  <a16:creationId xmlns:a16="http://schemas.microsoft.com/office/drawing/2014/main" id="{498AFA9E-5F26-46F4-AEBA-D6111B5148DA}"/>
                </a:ext>
              </a:extLst>
            </p:cNvPr>
            <p:cNvSpPr/>
            <p:nvPr/>
          </p:nvSpPr>
          <p:spPr>
            <a:xfrm>
              <a:off x="5364548" y="4142438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6" name="流程图: 接点 215">
              <a:extLst>
                <a:ext uri="{FF2B5EF4-FFF2-40B4-BE49-F238E27FC236}">
                  <a16:creationId xmlns:a16="http://schemas.microsoft.com/office/drawing/2014/main" id="{D2D04379-5E30-4CF0-A3EA-E2D3894D2F2D}"/>
                </a:ext>
              </a:extLst>
            </p:cNvPr>
            <p:cNvSpPr/>
            <p:nvPr/>
          </p:nvSpPr>
          <p:spPr>
            <a:xfrm>
              <a:off x="5615340" y="4142438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7" name="流程图: 接点 216">
              <a:extLst>
                <a:ext uri="{FF2B5EF4-FFF2-40B4-BE49-F238E27FC236}">
                  <a16:creationId xmlns:a16="http://schemas.microsoft.com/office/drawing/2014/main" id="{834FF2FE-A553-47B3-919B-F0AD1C13F070}"/>
                </a:ext>
              </a:extLst>
            </p:cNvPr>
            <p:cNvSpPr/>
            <p:nvPr/>
          </p:nvSpPr>
          <p:spPr>
            <a:xfrm>
              <a:off x="5908944" y="4142438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8" name="流程图: 接点 217">
              <a:extLst>
                <a:ext uri="{FF2B5EF4-FFF2-40B4-BE49-F238E27FC236}">
                  <a16:creationId xmlns:a16="http://schemas.microsoft.com/office/drawing/2014/main" id="{DFEAF8E7-009C-446C-89F2-7831504CEB48}"/>
                </a:ext>
              </a:extLst>
            </p:cNvPr>
            <p:cNvSpPr/>
            <p:nvPr/>
          </p:nvSpPr>
          <p:spPr>
            <a:xfrm>
              <a:off x="6193399" y="4142438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9" name="流程图: 接点 218">
              <a:extLst>
                <a:ext uri="{FF2B5EF4-FFF2-40B4-BE49-F238E27FC236}">
                  <a16:creationId xmlns:a16="http://schemas.microsoft.com/office/drawing/2014/main" id="{4143F20E-A491-4E87-B768-C733A9AEF281}"/>
                </a:ext>
              </a:extLst>
            </p:cNvPr>
            <p:cNvSpPr/>
            <p:nvPr/>
          </p:nvSpPr>
          <p:spPr>
            <a:xfrm>
              <a:off x="6486127" y="4142438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0" name="连接符: 肘形 219">
              <a:extLst>
                <a:ext uri="{FF2B5EF4-FFF2-40B4-BE49-F238E27FC236}">
                  <a16:creationId xmlns:a16="http://schemas.microsoft.com/office/drawing/2014/main" id="{DF2D6362-73ED-4F3D-BE84-DF6FB3EC6E67}"/>
                </a:ext>
              </a:extLst>
            </p:cNvPr>
            <p:cNvCxnSpPr>
              <a:cxnSpLocks/>
              <a:stCxn id="248" idx="0"/>
            </p:cNvCxnSpPr>
            <p:nvPr/>
          </p:nvCxnSpPr>
          <p:spPr>
            <a:xfrm rot="5400000" flipH="1" flipV="1">
              <a:off x="4785996" y="343496"/>
              <a:ext cx="8009" cy="5681347"/>
            </a:xfrm>
            <a:prstGeom prst="bentConnector3">
              <a:avLst>
                <a:gd name="adj1" fmla="val 2742717"/>
              </a:avLst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文本框 220">
              <a:extLst>
                <a:ext uri="{FF2B5EF4-FFF2-40B4-BE49-F238E27FC236}">
                  <a16:creationId xmlns:a16="http://schemas.microsoft.com/office/drawing/2014/main" id="{16A8C045-CCE1-4D9F-B20E-5F8047FE40CA}"/>
                </a:ext>
              </a:extLst>
            </p:cNvPr>
            <p:cNvSpPr txBox="1"/>
            <p:nvPr/>
          </p:nvSpPr>
          <p:spPr>
            <a:xfrm>
              <a:off x="2502553" y="2779468"/>
              <a:ext cx="606173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CAN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2" name="文本框 221">
              <a:extLst>
                <a:ext uri="{FF2B5EF4-FFF2-40B4-BE49-F238E27FC236}">
                  <a16:creationId xmlns:a16="http://schemas.microsoft.com/office/drawing/2014/main" id="{6FCC4CDC-76DD-40F7-B0BF-84243E226076}"/>
                </a:ext>
              </a:extLst>
            </p:cNvPr>
            <p:cNvSpPr txBox="1"/>
            <p:nvPr/>
          </p:nvSpPr>
          <p:spPr>
            <a:xfrm>
              <a:off x="1300855" y="5736362"/>
              <a:ext cx="25955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4EA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Cluster 1: {{CLUSTER_CONFIG}}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4EA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{{CLUSTER_V}}V/{{CELL_AH}}Ah {{CLUSTER_ENERGY_KWH}}kWh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3" name="文本框 222">
              <a:extLst>
                <a:ext uri="{FF2B5EF4-FFF2-40B4-BE49-F238E27FC236}">
                  <a16:creationId xmlns:a16="http://schemas.microsoft.com/office/drawing/2014/main" id="{9E5FA44A-9DB3-4E08-818A-F4F9E2E88E3C}"/>
                </a:ext>
              </a:extLst>
            </p:cNvPr>
            <p:cNvSpPr txBox="1"/>
            <p:nvPr/>
          </p:nvSpPr>
          <p:spPr>
            <a:xfrm>
              <a:off x="7079088" y="5724677"/>
              <a:ext cx="25955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675">
                  <a:solidFill>
                    <a:srgbClr val="004EA2"/>
                  </a:solidFill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4EA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Cluster {{CLUSTERS_PER_CONTAINER}}: {{CLUSTER_CONFIG}}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4EA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{{CLUSTER_V}}V/{{CELL_AH}}Ah {{CLUSTER_ENERGY_KWH}}kWh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4" name="Rectangle 526">
              <a:extLst>
                <a:ext uri="{FF2B5EF4-FFF2-40B4-BE49-F238E27FC236}">
                  <a16:creationId xmlns:a16="http://schemas.microsoft.com/office/drawing/2014/main" id="{398E66E6-1427-4B2E-80BC-1C492BA7D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83" y="1197946"/>
              <a:ext cx="3404760" cy="384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37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6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*Can be customized as required.</a:t>
              </a:r>
              <a:endParaRPr kumimoji="0" lang="zh-CN" altLang="zh-CN" sz="10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5" name="连接符: 肘形 224">
              <a:extLst>
                <a:ext uri="{FF2B5EF4-FFF2-40B4-BE49-F238E27FC236}">
                  <a16:creationId xmlns:a16="http://schemas.microsoft.com/office/drawing/2014/main" id="{FD7FC881-3F25-42A4-B1FE-7A0EAD09DCC9}"/>
                </a:ext>
              </a:extLst>
            </p:cNvPr>
            <p:cNvCxnSpPr>
              <a:cxnSpLocks/>
              <a:stCxn id="174" idx="1"/>
              <a:endCxn id="188" idx="0"/>
            </p:cNvCxnSpPr>
            <p:nvPr/>
          </p:nvCxnSpPr>
          <p:spPr>
            <a:xfrm rot="10800000" flipV="1">
              <a:off x="4852325" y="1288549"/>
              <a:ext cx="1718092" cy="852050"/>
            </a:xfrm>
            <a:prstGeom prst="bentConnector2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矩形: 圆角 225">
              <a:extLst>
                <a:ext uri="{FF2B5EF4-FFF2-40B4-BE49-F238E27FC236}">
                  <a16:creationId xmlns:a16="http://schemas.microsoft.com/office/drawing/2014/main" id="{8D41034D-B78A-42AF-9F3B-1FAB85AEFDDF}"/>
                </a:ext>
              </a:extLst>
            </p:cNvPr>
            <p:cNvSpPr/>
            <p:nvPr/>
          </p:nvSpPr>
          <p:spPr>
            <a:xfrm>
              <a:off x="9672888" y="5025338"/>
              <a:ext cx="1848793" cy="1122840"/>
            </a:xfrm>
            <a:prstGeom prst="roundRect">
              <a:avLst>
                <a:gd name="adj" fmla="val 0"/>
              </a:avLst>
            </a:prstGeom>
            <a:solidFill>
              <a:srgbClr val="1F78D3">
                <a:alpha val="5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7" name="Rectangle 526">
              <a:extLst>
                <a:ext uri="{FF2B5EF4-FFF2-40B4-BE49-F238E27FC236}">
                  <a16:creationId xmlns:a16="http://schemas.microsoft.com/office/drawing/2014/main" id="{CEEED854-1258-4A9F-A6BA-F0ECBAFA1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3588" y="5797753"/>
              <a:ext cx="1747392" cy="2195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37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4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Bold" panose="020B0800000000000000" pitchFamily="34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14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Bold" panose="020B0800000000000000" pitchFamily="34" charset="-122"/>
                  <a:cs typeface="Times New Roman" panose="02020603050405020304" pitchFamily="18" charset="0"/>
                </a:rPr>
                <a:t>0HC Container</a:t>
              </a:r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AA6B5F4F-4444-42C3-BA55-BF94CC6D3593}"/>
                </a:ext>
              </a:extLst>
            </p:cNvPr>
            <p:cNvSpPr txBox="1"/>
            <p:nvPr/>
          </p:nvSpPr>
          <p:spPr>
            <a:xfrm>
              <a:off x="9555700" y="5139502"/>
              <a:ext cx="2074891" cy="5586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6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Battery system: {{CLUSTER_CONFIG}}×{{CLUSTERS_PER_CONTAINER}}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6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{{CLUSTER_V}}V/{{CELL_AH}}Ah×{{CLUSTERS_PER_CONTAINER}}  {{CONTAINER_ENERGY_MWH}}MWh</a:t>
              </a:r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A5C6ED14-AD47-46CD-B2F6-3B231A4C1B12}"/>
                </a:ext>
              </a:extLst>
            </p:cNvPr>
            <p:cNvSpPr txBox="1"/>
            <p:nvPr/>
          </p:nvSpPr>
          <p:spPr>
            <a:xfrm>
              <a:off x="2622385" y="1917899"/>
              <a:ext cx="127110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Dry contact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0" name="连接符: 肘形 229">
              <a:extLst>
                <a:ext uri="{FF2B5EF4-FFF2-40B4-BE49-F238E27FC236}">
                  <a16:creationId xmlns:a16="http://schemas.microsoft.com/office/drawing/2014/main" id="{45788599-882A-4569-83E7-817B69AF8380}"/>
                </a:ext>
              </a:extLst>
            </p:cNvPr>
            <p:cNvCxnSpPr>
              <a:cxnSpLocks/>
              <a:endCxn id="185" idx="0"/>
            </p:cNvCxnSpPr>
            <p:nvPr/>
          </p:nvCxnSpPr>
          <p:spPr>
            <a:xfrm flipV="1">
              <a:off x="4662872" y="1160800"/>
              <a:ext cx="6161022" cy="984348"/>
            </a:xfrm>
            <a:prstGeom prst="bentConnector4">
              <a:avLst>
                <a:gd name="adj1" fmla="val -28"/>
                <a:gd name="adj2" fmla="val 134143"/>
              </a:avLst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文本框 230">
              <a:extLst>
                <a:ext uri="{FF2B5EF4-FFF2-40B4-BE49-F238E27FC236}">
                  <a16:creationId xmlns:a16="http://schemas.microsoft.com/office/drawing/2014/main" id="{D15CAE48-0AB5-4519-BDBD-8534DDDA86A3}"/>
                </a:ext>
              </a:extLst>
            </p:cNvPr>
            <p:cNvSpPr txBox="1"/>
            <p:nvPr/>
          </p:nvSpPr>
          <p:spPr>
            <a:xfrm>
              <a:off x="880549" y="3857428"/>
              <a:ext cx="69009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PDU01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8FB6DFD7-451B-40E4-B701-0B5F19AE44D7}"/>
                </a:ext>
              </a:extLst>
            </p:cNvPr>
            <p:cNvSpPr txBox="1"/>
            <p:nvPr/>
          </p:nvSpPr>
          <p:spPr>
            <a:xfrm>
              <a:off x="1534148" y="5065794"/>
              <a:ext cx="81573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CAN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96DE202B-4936-4BA2-A417-2CC5FC5AB243}"/>
                </a:ext>
              </a:extLst>
            </p:cNvPr>
            <p:cNvSpPr/>
            <p:nvPr/>
          </p:nvSpPr>
          <p:spPr>
            <a:xfrm>
              <a:off x="2868705" y="5397905"/>
              <a:ext cx="830355" cy="32450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Pack 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{{PACK_CONFIG}}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4" name="矩形 233">
              <a:extLst>
                <a:ext uri="{FF2B5EF4-FFF2-40B4-BE49-F238E27FC236}">
                  <a16:creationId xmlns:a16="http://schemas.microsoft.com/office/drawing/2014/main" id="{6E7AB6EE-A44E-4611-A5FF-80D8EB3DA4B8}"/>
                </a:ext>
              </a:extLst>
            </p:cNvPr>
            <p:cNvSpPr/>
            <p:nvPr/>
          </p:nvSpPr>
          <p:spPr>
            <a:xfrm>
              <a:off x="2868705" y="4198966"/>
              <a:ext cx="830355" cy="32450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Pack 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{{PACK_CONFIG}}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62FCB2B1-9E9D-49A3-9AAF-8D84464AB9B3}"/>
                </a:ext>
              </a:extLst>
            </p:cNvPr>
            <p:cNvSpPr/>
            <p:nvPr/>
          </p:nvSpPr>
          <p:spPr>
            <a:xfrm>
              <a:off x="2868705" y="4654443"/>
              <a:ext cx="830355" cy="32450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Pack 2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{{PACK_CONFIG}}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D283F911-E798-428F-B91A-3F66DBB7DDCB}"/>
                </a:ext>
              </a:extLst>
            </p:cNvPr>
            <p:cNvCxnSpPr/>
            <p:nvPr/>
          </p:nvCxnSpPr>
          <p:spPr>
            <a:xfrm>
              <a:off x="3046759" y="4523475"/>
              <a:ext cx="0" cy="130968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6222D39C-F08B-4702-94AB-F5ABF5E55B15}"/>
                </a:ext>
              </a:extLst>
            </p:cNvPr>
            <p:cNvCxnSpPr/>
            <p:nvPr/>
          </p:nvCxnSpPr>
          <p:spPr>
            <a:xfrm>
              <a:off x="3522771" y="4523475"/>
              <a:ext cx="0" cy="130968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流程图: 接点 237">
              <a:extLst>
                <a:ext uri="{FF2B5EF4-FFF2-40B4-BE49-F238E27FC236}">
                  <a16:creationId xmlns:a16="http://schemas.microsoft.com/office/drawing/2014/main" id="{ADDF07CA-132B-4629-9ED5-8E7097B9D82A}"/>
                </a:ext>
              </a:extLst>
            </p:cNvPr>
            <p:cNvSpPr/>
            <p:nvPr/>
          </p:nvSpPr>
          <p:spPr>
            <a:xfrm>
              <a:off x="3257935" y="5085407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9" name="流程图: 接点 238">
              <a:extLst>
                <a:ext uri="{FF2B5EF4-FFF2-40B4-BE49-F238E27FC236}">
                  <a16:creationId xmlns:a16="http://schemas.microsoft.com/office/drawing/2014/main" id="{C37EDDCE-AB1E-485A-B3FF-2BC620520595}"/>
                </a:ext>
              </a:extLst>
            </p:cNvPr>
            <p:cNvSpPr/>
            <p:nvPr/>
          </p:nvSpPr>
          <p:spPr>
            <a:xfrm>
              <a:off x="3258131" y="5172682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0" name="流程图: 接点 239">
              <a:extLst>
                <a:ext uri="{FF2B5EF4-FFF2-40B4-BE49-F238E27FC236}">
                  <a16:creationId xmlns:a16="http://schemas.microsoft.com/office/drawing/2014/main" id="{3E4AB7CA-BD99-482B-BF73-C11D2FF5FED4}"/>
                </a:ext>
              </a:extLst>
            </p:cNvPr>
            <p:cNvSpPr/>
            <p:nvPr/>
          </p:nvSpPr>
          <p:spPr>
            <a:xfrm>
              <a:off x="3263931" y="5264959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B61186AA-CBC0-4A0B-8F76-3D56D576193C}"/>
                </a:ext>
              </a:extLst>
            </p:cNvPr>
            <p:cNvCxnSpPr>
              <a:cxnSpLocks/>
            </p:cNvCxnSpPr>
            <p:nvPr/>
          </p:nvCxnSpPr>
          <p:spPr>
            <a:xfrm>
              <a:off x="3054083" y="4979312"/>
              <a:ext cx="0" cy="418592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EFF03B33-4DCD-4DB2-A65B-6E69F4839029}"/>
                </a:ext>
              </a:extLst>
            </p:cNvPr>
            <p:cNvCxnSpPr>
              <a:cxnSpLocks/>
            </p:cNvCxnSpPr>
            <p:nvPr/>
          </p:nvCxnSpPr>
          <p:spPr>
            <a:xfrm>
              <a:off x="3515448" y="4979312"/>
              <a:ext cx="0" cy="418592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39FC725F-A5E0-43F9-B7B2-04182038F667}"/>
                </a:ext>
              </a:extLst>
            </p:cNvPr>
            <p:cNvCxnSpPr>
              <a:cxnSpLocks/>
              <a:stCxn id="327" idx="2"/>
              <a:endCxn id="328" idx="0"/>
            </p:cNvCxnSpPr>
            <p:nvPr/>
          </p:nvCxnSpPr>
          <p:spPr>
            <a:xfrm flipH="1">
              <a:off x="1945231" y="4519463"/>
              <a:ext cx="264" cy="137187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9E21FE6A-ED5B-4D35-B199-61EF7F441EED}"/>
                </a:ext>
              </a:extLst>
            </p:cNvPr>
            <p:cNvCxnSpPr>
              <a:cxnSpLocks/>
              <a:stCxn id="328" idx="2"/>
              <a:endCxn id="331" idx="0"/>
            </p:cNvCxnSpPr>
            <p:nvPr/>
          </p:nvCxnSpPr>
          <p:spPr>
            <a:xfrm>
              <a:off x="1945231" y="4978649"/>
              <a:ext cx="264" cy="419255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流程图: 接点 244">
              <a:extLst>
                <a:ext uri="{FF2B5EF4-FFF2-40B4-BE49-F238E27FC236}">
                  <a16:creationId xmlns:a16="http://schemas.microsoft.com/office/drawing/2014/main" id="{1314C7CA-634D-414C-AE25-F6BDE2F1E625}"/>
                </a:ext>
              </a:extLst>
            </p:cNvPr>
            <p:cNvSpPr/>
            <p:nvPr/>
          </p:nvSpPr>
          <p:spPr>
            <a:xfrm>
              <a:off x="2142932" y="5075434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" name="流程图: 接点 245">
              <a:extLst>
                <a:ext uri="{FF2B5EF4-FFF2-40B4-BE49-F238E27FC236}">
                  <a16:creationId xmlns:a16="http://schemas.microsoft.com/office/drawing/2014/main" id="{F1B79590-B4FC-4A65-A360-D9F7A2224E99}"/>
                </a:ext>
              </a:extLst>
            </p:cNvPr>
            <p:cNvSpPr/>
            <p:nvPr/>
          </p:nvSpPr>
          <p:spPr>
            <a:xfrm>
              <a:off x="2142932" y="5168371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7" name="流程图: 接点 246">
              <a:extLst>
                <a:ext uri="{FF2B5EF4-FFF2-40B4-BE49-F238E27FC236}">
                  <a16:creationId xmlns:a16="http://schemas.microsoft.com/office/drawing/2014/main" id="{51FD8EC0-D232-4D77-BA50-A4A7D4061F37}"/>
                </a:ext>
              </a:extLst>
            </p:cNvPr>
            <p:cNvSpPr/>
            <p:nvPr/>
          </p:nvSpPr>
          <p:spPr>
            <a:xfrm>
              <a:off x="2142932" y="5272051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17E7F221-F810-48A8-8554-50EB0C1DBA50}"/>
                </a:ext>
              </a:extLst>
            </p:cNvPr>
            <p:cNvSpPr/>
            <p:nvPr/>
          </p:nvSpPr>
          <p:spPr>
            <a:xfrm>
              <a:off x="1534149" y="3188173"/>
              <a:ext cx="830355" cy="569897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SBMU01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EE795F25-FDC0-434E-BA10-6513EEEB4F77}"/>
                </a:ext>
              </a:extLst>
            </p:cNvPr>
            <p:cNvSpPr/>
            <p:nvPr/>
          </p:nvSpPr>
          <p:spPr>
            <a:xfrm>
              <a:off x="1014449" y="3073465"/>
              <a:ext cx="3271517" cy="1028544"/>
            </a:xfrm>
            <a:prstGeom prst="rect">
              <a:avLst/>
            </a:prstGeom>
            <a:noFill/>
            <a:ln w="12700">
              <a:solidFill>
                <a:srgbClr val="004EA2"/>
              </a:solidFill>
              <a:prstDash val="lgDash"/>
            </a:ln>
            <a:effectLst>
              <a:outerShdw blurRad="190500" dist="127000" dir="18900000" algn="b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08E94ED5-4008-472A-A2FF-36165F060E8C}"/>
                </a:ext>
              </a:extLst>
            </p:cNvPr>
            <p:cNvCxnSpPr>
              <a:cxnSpLocks/>
              <a:stCxn id="327" idx="0"/>
              <a:endCxn id="248" idx="2"/>
            </p:cNvCxnSpPr>
            <p:nvPr/>
          </p:nvCxnSpPr>
          <p:spPr>
            <a:xfrm flipV="1">
              <a:off x="1945495" y="3758070"/>
              <a:ext cx="3832" cy="436884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63DC1F78-43D8-4D94-907A-778A20F89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9444" y="3197168"/>
              <a:ext cx="100699" cy="139397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606481DA-2D5D-4AF7-92AB-62E6E41AEC86}"/>
                </a:ext>
              </a:extLst>
            </p:cNvPr>
            <p:cNvCxnSpPr>
              <a:cxnSpLocks/>
            </p:cNvCxnSpPr>
            <p:nvPr/>
          </p:nvCxnSpPr>
          <p:spPr>
            <a:xfrm>
              <a:off x="3083228" y="3336745"/>
              <a:ext cx="3704" cy="862220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752C2DCD-5B89-4F16-BB8C-695438882D6F}"/>
                </a:ext>
              </a:extLst>
            </p:cNvPr>
            <p:cNvCxnSpPr>
              <a:cxnSpLocks/>
            </p:cNvCxnSpPr>
            <p:nvPr/>
          </p:nvCxnSpPr>
          <p:spPr>
            <a:xfrm>
              <a:off x="3517835" y="3331412"/>
              <a:ext cx="0" cy="867553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文本框 253">
              <a:extLst>
                <a:ext uri="{FF2B5EF4-FFF2-40B4-BE49-F238E27FC236}">
                  <a16:creationId xmlns:a16="http://schemas.microsoft.com/office/drawing/2014/main" id="{9C0BFE75-66CB-451A-A2A2-23A02BACA38A}"/>
                </a:ext>
              </a:extLst>
            </p:cNvPr>
            <p:cNvSpPr txBox="1"/>
            <p:nvPr/>
          </p:nvSpPr>
          <p:spPr>
            <a:xfrm>
              <a:off x="1518051" y="3742815"/>
              <a:ext cx="5446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CAN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99F1E3FD-4D8D-4D5B-990B-1A4894E784AF}"/>
                </a:ext>
              </a:extLst>
            </p:cNvPr>
            <p:cNvSpPr/>
            <p:nvPr/>
          </p:nvSpPr>
          <p:spPr>
            <a:xfrm>
              <a:off x="3035271" y="3821770"/>
              <a:ext cx="100688" cy="117536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6FAD1CA5-4B70-4BA7-B3D1-0F7B2ED1EB71}"/>
                </a:ext>
              </a:extLst>
            </p:cNvPr>
            <p:cNvSpPr/>
            <p:nvPr/>
          </p:nvSpPr>
          <p:spPr>
            <a:xfrm>
              <a:off x="3465104" y="3523546"/>
              <a:ext cx="100688" cy="117536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>
              <a:outerShdw blurRad="190500" dist="127000" dir="18900000" algn="b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F7FB19D8-045E-4539-B1DE-76E820F2F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4621" y="3723483"/>
              <a:ext cx="130645" cy="480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64054FE1-39B2-48AB-A6F2-0C13EA1BB307}"/>
                </a:ext>
              </a:extLst>
            </p:cNvPr>
            <p:cNvCxnSpPr>
              <a:cxnSpLocks/>
            </p:cNvCxnSpPr>
            <p:nvPr/>
          </p:nvCxnSpPr>
          <p:spPr>
            <a:xfrm>
              <a:off x="3400560" y="3771512"/>
              <a:ext cx="124707" cy="533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9" name="连接符: 肘形 258">
              <a:extLst>
                <a:ext uri="{FF2B5EF4-FFF2-40B4-BE49-F238E27FC236}">
                  <a16:creationId xmlns:a16="http://schemas.microsoft.com/office/drawing/2014/main" id="{40571618-007D-4AC7-949E-AFF5B6DE29BF}"/>
                </a:ext>
              </a:extLst>
            </p:cNvPr>
            <p:cNvCxnSpPr>
              <a:cxnSpLocks/>
            </p:cNvCxnSpPr>
            <p:nvPr/>
          </p:nvCxnSpPr>
          <p:spPr>
            <a:xfrm>
              <a:off x="2359448" y="3587738"/>
              <a:ext cx="1156000" cy="183775"/>
            </a:xfrm>
            <a:prstGeom prst="bentConnector3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0" name="流程图: 接点 259">
              <a:extLst>
                <a:ext uri="{FF2B5EF4-FFF2-40B4-BE49-F238E27FC236}">
                  <a16:creationId xmlns:a16="http://schemas.microsoft.com/office/drawing/2014/main" id="{44CFCCE4-769A-4529-94EA-301CD55A5F67}"/>
                </a:ext>
              </a:extLst>
            </p:cNvPr>
            <p:cNvSpPr/>
            <p:nvPr/>
          </p:nvSpPr>
          <p:spPr>
            <a:xfrm>
              <a:off x="3018357" y="3971806"/>
              <a:ext cx="129743" cy="101409"/>
            </a:xfrm>
            <a:prstGeom prst="flowChartConnector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956E4347-B6BF-4B7B-9C76-06BFEEC2F3EB}"/>
                </a:ext>
              </a:extLst>
            </p:cNvPr>
            <p:cNvCxnSpPr>
              <a:cxnSpLocks/>
              <a:stCxn id="260" idx="2"/>
              <a:endCxn id="260" idx="0"/>
            </p:cNvCxnSpPr>
            <p:nvPr/>
          </p:nvCxnSpPr>
          <p:spPr>
            <a:xfrm flipV="1">
              <a:off x="3018357" y="3971806"/>
              <a:ext cx="64872" cy="507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BE24EE22-3302-43AC-8575-31879C625E80}"/>
                </a:ext>
              </a:extLst>
            </p:cNvPr>
            <p:cNvCxnSpPr>
              <a:cxnSpLocks/>
              <a:stCxn id="260" idx="2"/>
              <a:endCxn id="260" idx="4"/>
            </p:cNvCxnSpPr>
            <p:nvPr/>
          </p:nvCxnSpPr>
          <p:spPr>
            <a:xfrm>
              <a:off x="3018357" y="4022511"/>
              <a:ext cx="64872" cy="507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3" name="连接符: 肘形 262">
              <a:extLst>
                <a:ext uri="{FF2B5EF4-FFF2-40B4-BE49-F238E27FC236}">
                  <a16:creationId xmlns:a16="http://schemas.microsoft.com/office/drawing/2014/main" id="{FAE1D26F-2093-42C6-8A17-E6D79E0C5EDE}"/>
                </a:ext>
              </a:extLst>
            </p:cNvPr>
            <p:cNvCxnSpPr>
              <a:cxnSpLocks/>
              <a:endCxn id="260" idx="2"/>
            </p:cNvCxnSpPr>
            <p:nvPr/>
          </p:nvCxnSpPr>
          <p:spPr>
            <a:xfrm>
              <a:off x="2357787" y="3693663"/>
              <a:ext cx="660571" cy="32884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48C69AB5-E1AB-4F3B-96EE-AC1DF23D19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22673" y="3192015"/>
              <a:ext cx="100699" cy="139397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连接符: 肘形 264">
              <a:extLst>
                <a:ext uri="{FF2B5EF4-FFF2-40B4-BE49-F238E27FC236}">
                  <a16:creationId xmlns:a16="http://schemas.microsoft.com/office/drawing/2014/main" id="{4F5F61E9-AB89-4389-B819-9AC45295BD17}"/>
                </a:ext>
              </a:extLst>
            </p:cNvPr>
            <p:cNvCxnSpPr>
              <a:cxnSpLocks/>
              <a:stCxn id="248" idx="3"/>
            </p:cNvCxnSpPr>
            <p:nvPr/>
          </p:nvCxnSpPr>
          <p:spPr>
            <a:xfrm flipV="1">
              <a:off x="2364504" y="3257645"/>
              <a:ext cx="1101817" cy="215477"/>
            </a:xfrm>
            <a:prstGeom prst="bentConnector3">
              <a:avLst>
                <a:gd name="adj1" fmla="val 89958"/>
              </a:avLst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0EF786A0-9609-4D05-8913-699ED04E2720}"/>
                </a:ext>
              </a:extLst>
            </p:cNvPr>
            <p:cNvCxnSpPr/>
            <p:nvPr/>
          </p:nvCxnSpPr>
          <p:spPr>
            <a:xfrm>
              <a:off x="2359448" y="3276071"/>
              <a:ext cx="683581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文本框 266">
              <a:extLst>
                <a:ext uri="{FF2B5EF4-FFF2-40B4-BE49-F238E27FC236}">
                  <a16:creationId xmlns:a16="http://schemas.microsoft.com/office/drawing/2014/main" id="{34DA462B-6383-444D-9F78-BA98FF329F8C}"/>
                </a:ext>
              </a:extLst>
            </p:cNvPr>
            <p:cNvSpPr txBox="1"/>
            <p:nvPr/>
          </p:nvSpPr>
          <p:spPr>
            <a:xfrm>
              <a:off x="3510563" y="3649023"/>
              <a:ext cx="57253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Shunt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68" name="文本框 267">
              <a:extLst>
                <a:ext uri="{FF2B5EF4-FFF2-40B4-BE49-F238E27FC236}">
                  <a16:creationId xmlns:a16="http://schemas.microsoft.com/office/drawing/2014/main" id="{E770B3B7-ED33-4FB5-9374-A40C05F48CEB}"/>
                </a:ext>
              </a:extLst>
            </p:cNvPr>
            <p:cNvSpPr txBox="1"/>
            <p:nvPr/>
          </p:nvSpPr>
          <p:spPr>
            <a:xfrm>
              <a:off x="3499304" y="3434452"/>
              <a:ext cx="5446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Fuse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69" name="文本框 268">
              <a:extLst>
                <a:ext uri="{FF2B5EF4-FFF2-40B4-BE49-F238E27FC236}">
                  <a16:creationId xmlns:a16="http://schemas.microsoft.com/office/drawing/2014/main" id="{E9FD688A-9FF6-460C-B202-32ABD2A98931}"/>
                </a:ext>
              </a:extLst>
            </p:cNvPr>
            <p:cNvSpPr txBox="1"/>
            <p:nvPr/>
          </p:nvSpPr>
          <p:spPr>
            <a:xfrm>
              <a:off x="3497140" y="3153669"/>
              <a:ext cx="81502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Contactor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0" name="文本框 269">
              <a:extLst>
                <a:ext uri="{FF2B5EF4-FFF2-40B4-BE49-F238E27FC236}">
                  <a16:creationId xmlns:a16="http://schemas.microsoft.com/office/drawing/2014/main" id="{70C84760-64A5-46AE-8F61-E623E34F93A8}"/>
                </a:ext>
              </a:extLst>
            </p:cNvPr>
            <p:cNvSpPr txBox="1"/>
            <p:nvPr/>
          </p:nvSpPr>
          <p:spPr>
            <a:xfrm>
              <a:off x="3064912" y="3894616"/>
              <a:ext cx="102736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Hall sensor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1" name="文本框 270">
              <a:extLst>
                <a:ext uri="{FF2B5EF4-FFF2-40B4-BE49-F238E27FC236}">
                  <a16:creationId xmlns:a16="http://schemas.microsoft.com/office/drawing/2014/main" id="{DBCD12F5-2A4B-48F8-996C-30C82B9F73E9}"/>
                </a:ext>
              </a:extLst>
            </p:cNvPr>
            <p:cNvSpPr txBox="1"/>
            <p:nvPr/>
          </p:nvSpPr>
          <p:spPr>
            <a:xfrm>
              <a:off x="3039829" y="3739840"/>
              <a:ext cx="5446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Fuse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72" name="连接符: 肘形 271">
              <a:extLst>
                <a:ext uri="{FF2B5EF4-FFF2-40B4-BE49-F238E27FC236}">
                  <a16:creationId xmlns:a16="http://schemas.microsoft.com/office/drawing/2014/main" id="{CEB8A121-810E-46D6-BFBA-7A4A30EBA6ED}"/>
                </a:ext>
              </a:extLst>
            </p:cNvPr>
            <p:cNvCxnSpPr>
              <a:cxnSpLocks/>
              <a:stCxn id="186" idx="3"/>
              <a:endCxn id="188" idx="1"/>
            </p:cNvCxnSpPr>
            <p:nvPr/>
          </p:nvCxnSpPr>
          <p:spPr>
            <a:xfrm>
              <a:off x="2462485" y="2107855"/>
              <a:ext cx="1974661" cy="194999"/>
            </a:xfrm>
            <a:prstGeom prst="bentConnector3">
              <a:avLst>
                <a:gd name="adj1" fmla="val 77441"/>
              </a:avLst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文本框 272">
              <a:extLst>
                <a:ext uri="{FF2B5EF4-FFF2-40B4-BE49-F238E27FC236}">
                  <a16:creationId xmlns:a16="http://schemas.microsoft.com/office/drawing/2014/main" id="{1E2191D4-7DFD-47CD-9843-C33B72D41608}"/>
                </a:ext>
              </a:extLst>
            </p:cNvPr>
            <p:cNvSpPr txBox="1"/>
            <p:nvPr/>
          </p:nvSpPr>
          <p:spPr>
            <a:xfrm>
              <a:off x="8286884" y="634096"/>
              <a:ext cx="81573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Ethernet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D243BF4F-C87E-4253-980F-1EDE02C18BB7}"/>
                </a:ext>
              </a:extLst>
            </p:cNvPr>
            <p:cNvSpPr/>
            <p:nvPr/>
          </p:nvSpPr>
          <p:spPr>
            <a:xfrm>
              <a:off x="3471399" y="3693663"/>
              <a:ext cx="94720" cy="1637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>
              <a:outerShdw blurRad="190500" dist="127000" dir="18900000" algn="b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5" name="文本框 274">
              <a:extLst>
                <a:ext uri="{FF2B5EF4-FFF2-40B4-BE49-F238E27FC236}">
                  <a16:creationId xmlns:a16="http://schemas.microsoft.com/office/drawing/2014/main" id="{38403A57-17AB-4B09-B073-C62F8A0CF431}"/>
                </a:ext>
              </a:extLst>
            </p:cNvPr>
            <p:cNvSpPr txBox="1"/>
            <p:nvPr/>
          </p:nvSpPr>
          <p:spPr>
            <a:xfrm>
              <a:off x="6560495" y="3857428"/>
              <a:ext cx="69009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PDU04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6" name="文本框 275">
              <a:extLst>
                <a:ext uri="{FF2B5EF4-FFF2-40B4-BE49-F238E27FC236}">
                  <a16:creationId xmlns:a16="http://schemas.microsoft.com/office/drawing/2014/main" id="{DDA7F35B-C848-45E2-80EA-A9D59326DE90}"/>
                </a:ext>
              </a:extLst>
            </p:cNvPr>
            <p:cNvSpPr txBox="1"/>
            <p:nvPr/>
          </p:nvSpPr>
          <p:spPr>
            <a:xfrm>
              <a:off x="7214094" y="5065794"/>
              <a:ext cx="81573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CAN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1A0ED4F5-F316-4A25-A418-7085D7974549}"/>
                </a:ext>
              </a:extLst>
            </p:cNvPr>
            <p:cNvSpPr/>
            <p:nvPr/>
          </p:nvSpPr>
          <p:spPr>
            <a:xfrm>
              <a:off x="8548651" y="5397905"/>
              <a:ext cx="830355" cy="32450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Pack 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{{PACK_CONFIG}}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9D201408-4EA1-4600-8102-EBD436F5B4E4}"/>
                </a:ext>
              </a:extLst>
            </p:cNvPr>
            <p:cNvSpPr/>
            <p:nvPr/>
          </p:nvSpPr>
          <p:spPr>
            <a:xfrm>
              <a:off x="8548651" y="4198966"/>
              <a:ext cx="830355" cy="32450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Pack 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{{PACK_CONFIG}}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10306059-DADF-4801-BC67-70EAC3A5FFC0}"/>
                </a:ext>
              </a:extLst>
            </p:cNvPr>
            <p:cNvSpPr/>
            <p:nvPr/>
          </p:nvSpPr>
          <p:spPr>
            <a:xfrm>
              <a:off x="8548651" y="4654443"/>
              <a:ext cx="830355" cy="32450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Pack 2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{{PACK_CONFIG}}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B1170340-93EB-42DE-A6EE-0ADB413F4DB8}"/>
                </a:ext>
              </a:extLst>
            </p:cNvPr>
            <p:cNvCxnSpPr/>
            <p:nvPr/>
          </p:nvCxnSpPr>
          <p:spPr>
            <a:xfrm>
              <a:off x="8726704" y="4523475"/>
              <a:ext cx="0" cy="130968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2FE990AC-661F-4C26-9F1D-72C881F2B5F0}"/>
                </a:ext>
              </a:extLst>
            </p:cNvPr>
            <p:cNvCxnSpPr/>
            <p:nvPr/>
          </p:nvCxnSpPr>
          <p:spPr>
            <a:xfrm>
              <a:off x="9202716" y="4523475"/>
              <a:ext cx="0" cy="130968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流程图: 接点 281">
              <a:extLst>
                <a:ext uri="{FF2B5EF4-FFF2-40B4-BE49-F238E27FC236}">
                  <a16:creationId xmlns:a16="http://schemas.microsoft.com/office/drawing/2014/main" id="{94D96A7B-1684-4334-AF92-DA94CB0B9CB5}"/>
                </a:ext>
              </a:extLst>
            </p:cNvPr>
            <p:cNvSpPr/>
            <p:nvPr/>
          </p:nvSpPr>
          <p:spPr>
            <a:xfrm>
              <a:off x="8937880" y="5085407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83" name="流程图: 接点 282">
              <a:extLst>
                <a:ext uri="{FF2B5EF4-FFF2-40B4-BE49-F238E27FC236}">
                  <a16:creationId xmlns:a16="http://schemas.microsoft.com/office/drawing/2014/main" id="{EAD4DA19-1362-456F-B65A-E54CD7B51655}"/>
                </a:ext>
              </a:extLst>
            </p:cNvPr>
            <p:cNvSpPr/>
            <p:nvPr/>
          </p:nvSpPr>
          <p:spPr>
            <a:xfrm>
              <a:off x="8938076" y="5172682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84" name="流程图: 接点 283">
              <a:extLst>
                <a:ext uri="{FF2B5EF4-FFF2-40B4-BE49-F238E27FC236}">
                  <a16:creationId xmlns:a16="http://schemas.microsoft.com/office/drawing/2014/main" id="{4902461B-8AC9-4833-8544-A72827DE8924}"/>
                </a:ext>
              </a:extLst>
            </p:cNvPr>
            <p:cNvSpPr/>
            <p:nvPr/>
          </p:nvSpPr>
          <p:spPr>
            <a:xfrm>
              <a:off x="8940832" y="5262655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7FB5BA38-DCE8-445D-BBF7-D07CA2B9A3E6}"/>
                </a:ext>
              </a:extLst>
            </p:cNvPr>
            <p:cNvCxnSpPr>
              <a:cxnSpLocks/>
            </p:cNvCxnSpPr>
            <p:nvPr/>
          </p:nvCxnSpPr>
          <p:spPr>
            <a:xfrm>
              <a:off x="8734028" y="4979312"/>
              <a:ext cx="0" cy="418592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892DDF50-BE34-4390-8874-3E5CB2610650}"/>
                </a:ext>
              </a:extLst>
            </p:cNvPr>
            <p:cNvCxnSpPr>
              <a:cxnSpLocks/>
            </p:cNvCxnSpPr>
            <p:nvPr/>
          </p:nvCxnSpPr>
          <p:spPr>
            <a:xfrm>
              <a:off x="9195394" y="4979312"/>
              <a:ext cx="0" cy="418592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847C7E15-165D-4211-ADC1-17FAAB5DF6F8}"/>
                </a:ext>
              </a:extLst>
            </p:cNvPr>
            <p:cNvCxnSpPr>
              <a:cxnSpLocks/>
              <a:stCxn id="332" idx="2"/>
              <a:endCxn id="334" idx="0"/>
            </p:cNvCxnSpPr>
            <p:nvPr/>
          </p:nvCxnSpPr>
          <p:spPr>
            <a:xfrm flipH="1">
              <a:off x="7628561" y="4522776"/>
              <a:ext cx="264" cy="128362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CE8B6089-968D-4047-8310-3910A4FD4C31}"/>
                </a:ext>
              </a:extLst>
            </p:cNvPr>
            <p:cNvCxnSpPr>
              <a:cxnSpLocks/>
              <a:stCxn id="334" idx="2"/>
              <a:endCxn id="336" idx="0"/>
            </p:cNvCxnSpPr>
            <p:nvPr/>
          </p:nvCxnSpPr>
          <p:spPr>
            <a:xfrm>
              <a:off x="7628561" y="4978649"/>
              <a:ext cx="264" cy="419255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9" name="流程图: 接点 288">
              <a:extLst>
                <a:ext uri="{FF2B5EF4-FFF2-40B4-BE49-F238E27FC236}">
                  <a16:creationId xmlns:a16="http://schemas.microsoft.com/office/drawing/2014/main" id="{93BCE079-92E5-4616-A1EB-8C3292693942}"/>
                </a:ext>
              </a:extLst>
            </p:cNvPr>
            <p:cNvSpPr/>
            <p:nvPr/>
          </p:nvSpPr>
          <p:spPr>
            <a:xfrm>
              <a:off x="7822878" y="5075434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" name="流程图: 接点 289">
              <a:extLst>
                <a:ext uri="{FF2B5EF4-FFF2-40B4-BE49-F238E27FC236}">
                  <a16:creationId xmlns:a16="http://schemas.microsoft.com/office/drawing/2014/main" id="{CDB7BCE0-6090-4A41-BDCC-9E7D04A79A2B}"/>
                </a:ext>
              </a:extLst>
            </p:cNvPr>
            <p:cNvSpPr/>
            <p:nvPr/>
          </p:nvSpPr>
          <p:spPr>
            <a:xfrm>
              <a:off x="7822878" y="5168371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" name="流程图: 接点 290">
              <a:extLst>
                <a:ext uri="{FF2B5EF4-FFF2-40B4-BE49-F238E27FC236}">
                  <a16:creationId xmlns:a16="http://schemas.microsoft.com/office/drawing/2014/main" id="{732BD8BE-8EA1-4365-AC58-14263CA5BFAF}"/>
                </a:ext>
              </a:extLst>
            </p:cNvPr>
            <p:cNvSpPr/>
            <p:nvPr/>
          </p:nvSpPr>
          <p:spPr>
            <a:xfrm>
              <a:off x="7822878" y="5272051"/>
              <a:ext cx="41517" cy="32451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9FB78B9C-45AE-4236-9BC4-7E29B8306F5A}"/>
                </a:ext>
              </a:extLst>
            </p:cNvPr>
            <p:cNvSpPr/>
            <p:nvPr/>
          </p:nvSpPr>
          <p:spPr>
            <a:xfrm>
              <a:off x="7214095" y="3188173"/>
              <a:ext cx="830355" cy="569897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SBMU04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93" name="矩形 292">
              <a:extLst>
                <a:ext uri="{FF2B5EF4-FFF2-40B4-BE49-F238E27FC236}">
                  <a16:creationId xmlns:a16="http://schemas.microsoft.com/office/drawing/2014/main" id="{2F353F04-D626-4809-AD91-36B4FC5A7E9B}"/>
                </a:ext>
              </a:extLst>
            </p:cNvPr>
            <p:cNvSpPr/>
            <p:nvPr/>
          </p:nvSpPr>
          <p:spPr>
            <a:xfrm>
              <a:off x="6694395" y="3073465"/>
              <a:ext cx="3271517" cy="1028544"/>
            </a:xfrm>
            <a:prstGeom prst="rect">
              <a:avLst/>
            </a:prstGeom>
            <a:noFill/>
            <a:ln w="12700">
              <a:solidFill>
                <a:srgbClr val="004EA2"/>
              </a:solidFill>
              <a:prstDash val="lgDash"/>
            </a:ln>
            <a:effectLst>
              <a:outerShdw blurRad="190500" dist="127000" dir="18900000" algn="b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94" name="直接连接符 293">
              <a:extLst>
                <a:ext uri="{FF2B5EF4-FFF2-40B4-BE49-F238E27FC236}">
                  <a16:creationId xmlns:a16="http://schemas.microsoft.com/office/drawing/2014/main" id="{EFE0DEA5-4CAF-4524-98C3-75A6BDF17398}"/>
                </a:ext>
              </a:extLst>
            </p:cNvPr>
            <p:cNvCxnSpPr>
              <a:cxnSpLocks/>
              <a:stCxn id="332" idx="0"/>
              <a:endCxn id="292" idx="2"/>
            </p:cNvCxnSpPr>
            <p:nvPr/>
          </p:nvCxnSpPr>
          <p:spPr>
            <a:xfrm flipV="1">
              <a:off x="7628825" y="3758070"/>
              <a:ext cx="448" cy="444803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BC9B53F9-C82A-4D34-8BD6-90517F98D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59390" y="3197168"/>
              <a:ext cx="100699" cy="139397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5C46FE44-B65C-4215-A67E-EB8011B604EF}"/>
                </a:ext>
              </a:extLst>
            </p:cNvPr>
            <p:cNvCxnSpPr>
              <a:cxnSpLocks/>
            </p:cNvCxnSpPr>
            <p:nvPr/>
          </p:nvCxnSpPr>
          <p:spPr>
            <a:xfrm>
              <a:off x="8763174" y="3336745"/>
              <a:ext cx="3704" cy="862220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442D65F4-DFDF-4E9C-A970-FDEC3075B592}"/>
                </a:ext>
              </a:extLst>
            </p:cNvPr>
            <p:cNvCxnSpPr>
              <a:cxnSpLocks/>
            </p:cNvCxnSpPr>
            <p:nvPr/>
          </p:nvCxnSpPr>
          <p:spPr>
            <a:xfrm>
              <a:off x="9197780" y="3331412"/>
              <a:ext cx="0" cy="867553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8" name="文本框 297">
              <a:extLst>
                <a:ext uri="{FF2B5EF4-FFF2-40B4-BE49-F238E27FC236}">
                  <a16:creationId xmlns:a16="http://schemas.microsoft.com/office/drawing/2014/main" id="{6209863A-BE16-4D21-B169-1AD6FE98D628}"/>
                </a:ext>
              </a:extLst>
            </p:cNvPr>
            <p:cNvSpPr txBox="1"/>
            <p:nvPr/>
          </p:nvSpPr>
          <p:spPr>
            <a:xfrm>
              <a:off x="7197996" y="3742815"/>
              <a:ext cx="5446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CAN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99" name="矩形 298">
              <a:extLst>
                <a:ext uri="{FF2B5EF4-FFF2-40B4-BE49-F238E27FC236}">
                  <a16:creationId xmlns:a16="http://schemas.microsoft.com/office/drawing/2014/main" id="{6839012E-C2E4-4048-88B4-5FA0E41E593F}"/>
                </a:ext>
              </a:extLst>
            </p:cNvPr>
            <p:cNvSpPr/>
            <p:nvPr/>
          </p:nvSpPr>
          <p:spPr>
            <a:xfrm>
              <a:off x="8715216" y="3821770"/>
              <a:ext cx="100688" cy="117536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00" name="矩形 299">
              <a:extLst>
                <a:ext uri="{FF2B5EF4-FFF2-40B4-BE49-F238E27FC236}">
                  <a16:creationId xmlns:a16="http://schemas.microsoft.com/office/drawing/2014/main" id="{7EEF0AAB-869D-4993-86F3-0DC0BCE8687C}"/>
                </a:ext>
              </a:extLst>
            </p:cNvPr>
            <p:cNvSpPr/>
            <p:nvPr/>
          </p:nvSpPr>
          <p:spPr>
            <a:xfrm>
              <a:off x="9145050" y="3523546"/>
              <a:ext cx="100688" cy="117536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>
              <a:outerShdw blurRad="190500" dist="127000" dir="18900000" algn="b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4AF48D24-8F9D-495E-949C-2EE92ACA46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4567" y="3723483"/>
              <a:ext cx="130645" cy="480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0E6FED7A-ECD0-4DF3-9E05-D6921B27DED7}"/>
                </a:ext>
              </a:extLst>
            </p:cNvPr>
            <p:cNvCxnSpPr>
              <a:cxnSpLocks/>
            </p:cNvCxnSpPr>
            <p:nvPr/>
          </p:nvCxnSpPr>
          <p:spPr>
            <a:xfrm>
              <a:off x="9080506" y="3771512"/>
              <a:ext cx="124707" cy="533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3" name="连接符: 肘形 302">
              <a:extLst>
                <a:ext uri="{FF2B5EF4-FFF2-40B4-BE49-F238E27FC236}">
                  <a16:creationId xmlns:a16="http://schemas.microsoft.com/office/drawing/2014/main" id="{3A97749E-291C-4328-9A8C-4FCA4BC4F04A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94" y="3587738"/>
              <a:ext cx="1156000" cy="183775"/>
            </a:xfrm>
            <a:prstGeom prst="bentConnector3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流程图: 接点 303">
              <a:extLst>
                <a:ext uri="{FF2B5EF4-FFF2-40B4-BE49-F238E27FC236}">
                  <a16:creationId xmlns:a16="http://schemas.microsoft.com/office/drawing/2014/main" id="{B8D923D6-76CD-462A-A291-B202A45F5347}"/>
                </a:ext>
              </a:extLst>
            </p:cNvPr>
            <p:cNvSpPr/>
            <p:nvPr/>
          </p:nvSpPr>
          <p:spPr>
            <a:xfrm>
              <a:off x="8698303" y="3971806"/>
              <a:ext cx="129743" cy="101409"/>
            </a:xfrm>
            <a:prstGeom prst="flowChartConnector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05" name="直接连接符 304">
              <a:extLst>
                <a:ext uri="{FF2B5EF4-FFF2-40B4-BE49-F238E27FC236}">
                  <a16:creationId xmlns:a16="http://schemas.microsoft.com/office/drawing/2014/main" id="{BF943088-BEAB-4F64-81B5-A13668634F8E}"/>
                </a:ext>
              </a:extLst>
            </p:cNvPr>
            <p:cNvCxnSpPr>
              <a:cxnSpLocks/>
              <a:stCxn id="304" idx="2"/>
              <a:endCxn id="304" idx="0"/>
            </p:cNvCxnSpPr>
            <p:nvPr/>
          </p:nvCxnSpPr>
          <p:spPr>
            <a:xfrm flipV="1">
              <a:off x="8698303" y="3971806"/>
              <a:ext cx="64872" cy="507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18D6DE2B-264B-4024-8437-ECCE851E0201}"/>
                </a:ext>
              </a:extLst>
            </p:cNvPr>
            <p:cNvCxnSpPr>
              <a:cxnSpLocks/>
              <a:stCxn id="304" idx="2"/>
              <a:endCxn id="304" idx="4"/>
            </p:cNvCxnSpPr>
            <p:nvPr/>
          </p:nvCxnSpPr>
          <p:spPr>
            <a:xfrm>
              <a:off x="8698303" y="4022511"/>
              <a:ext cx="64872" cy="507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7" name="连接符: 肘形 306">
              <a:extLst>
                <a:ext uri="{FF2B5EF4-FFF2-40B4-BE49-F238E27FC236}">
                  <a16:creationId xmlns:a16="http://schemas.microsoft.com/office/drawing/2014/main" id="{AEB97133-93C5-4605-A5B0-9B15597B2E22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>
              <a:off x="8037732" y="3693663"/>
              <a:ext cx="660571" cy="32884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AB57F2D4-3E9E-40C6-A322-E35307C9E2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02619" y="3192015"/>
              <a:ext cx="100699" cy="139397"/>
            </a:xfrm>
            <a:prstGeom prst="line">
              <a:avLst/>
            </a:prstGeom>
            <a:ln w="12700">
              <a:solidFill>
                <a:schemeClr val="tx1">
                  <a:alpha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连接符: 肘形 308">
              <a:extLst>
                <a:ext uri="{FF2B5EF4-FFF2-40B4-BE49-F238E27FC236}">
                  <a16:creationId xmlns:a16="http://schemas.microsoft.com/office/drawing/2014/main" id="{913589DD-C2BF-46DA-8244-F66452F002F2}"/>
                </a:ext>
              </a:extLst>
            </p:cNvPr>
            <p:cNvCxnSpPr>
              <a:cxnSpLocks/>
              <a:stCxn id="292" idx="3"/>
            </p:cNvCxnSpPr>
            <p:nvPr/>
          </p:nvCxnSpPr>
          <p:spPr>
            <a:xfrm flipV="1">
              <a:off x="8044450" y="3257645"/>
              <a:ext cx="1101817" cy="215477"/>
            </a:xfrm>
            <a:prstGeom prst="bentConnector3">
              <a:avLst>
                <a:gd name="adj1" fmla="val 89958"/>
              </a:avLst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551952F5-5E51-46BA-8912-4AFDC51CAB40}"/>
                </a:ext>
              </a:extLst>
            </p:cNvPr>
            <p:cNvCxnSpPr/>
            <p:nvPr/>
          </p:nvCxnSpPr>
          <p:spPr>
            <a:xfrm>
              <a:off x="8039394" y="3276071"/>
              <a:ext cx="683581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文本框 310">
              <a:extLst>
                <a:ext uri="{FF2B5EF4-FFF2-40B4-BE49-F238E27FC236}">
                  <a16:creationId xmlns:a16="http://schemas.microsoft.com/office/drawing/2014/main" id="{73F63580-2332-4A86-B01B-E6C6ABAFC5CB}"/>
                </a:ext>
              </a:extLst>
            </p:cNvPr>
            <p:cNvSpPr txBox="1"/>
            <p:nvPr/>
          </p:nvSpPr>
          <p:spPr>
            <a:xfrm>
              <a:off x="9155790" y="3661015"/>
              <a:ext cx="64579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Shunt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12" name="文本框 311">
              <a:extLst>
                <a:ext uri="{FF2B5EF4-FFF2-40B4-BE49-F238E27FC236}">
                  <a16:creationId xmlns:a16="http://schemas.microsoft.com/office/drawing/2014/main" id="{6443D4A9-FB66-4DD1-86A9-E0E70F10DB31}"/>
                </a:ext>
              </a:extLst>
            </p:cNvPr>
            <p:cNvSpPr txBox="1"/>
            <p:nvPr/>
          </p:nvSpPr>
          <p:spPr>
            <a:xfrm>
              <a:off x="9179250" y="3434452"/>
              <a:ext cx="5446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Fuse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13" name="文本框 312">
              <a:extLst>
                <a:ext uri="{FF2B5EF4-FFF2-40B4-BE49-F238E27FC236}">
                  <a16:creationId xmlns:a16="http://schemas.microsoft.com/office/drawing/2014/main" id="{06F21526-5D3E-478A-9C3F-18CA0AA65228}"/>
                </a:ext>
              </a:extLst>
            </p:cNvPr>
            <p:cNvSpPr txBox="1"/>
            <p:nvPr/>
          </p:nvSpPr>
          <p:spPr>
            <a:xfrm>
              <a:off x="9177086" y="3153669"/>
              <a:ext cx="81502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Contactor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14" name="文本框 313">
              <a:extLst>
                <a:ext uri="{FF2B5EF4-FFF2-40B4-BE49-F238E27FC236}">
                  <a16:creationId xmlns:a16="http://schemas.microsoft.com/office/drawing/2014/main" id="{F12E9B65-4BB8-44E7-8B5B-0533EAEC6473}"/>
                </a:ext>
              </a:extLst>
            </p:cNvPr>
            <p:cNvSpPr txBox="1"/>
            <p:nvPr/>
          </p:nvSpPr>
          <p:spPr>
            <a:xfrm>
              <a:off x="8748623" y="3891231"/>
              <a:ext cx="9515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Hall sensor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15" name="文本框 314">
              <a:extLst>
                <a:ext uri="{FF2B5EF4-FFF2-40B4-BE49-F238E27FC236}">
                  <a16:creationId xmlns:a16="http://schemas.microsoft.com/office/drawing/2014/main" id="{00EF41C0-08FE-4FE5-8A82-48DA2334A152}"/>
                </a:ext>
              </a:extLst>
            </p:cNvPr>
            <p:cNvSpPr txBox="1"/>
            <p:nvPr/>
          </p:nvSpPr>
          <p:spPr>
            <a:xfrm>
              <a:off x="8719775" y="3739840"/>
              <a:ext cx="5446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Fuse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744A2391-4113-4C34-A894-F64D30A0E8F4}"/>
                </a:ext>
              </a:extLst>
            </p:cNvPr>
            <p:cNvCxnSpPr>
              <a:cxnSpLocks/>
              <a:stCxn id="174" idx="3"/>
              <a:endCxn id="185" idx="1"/>
            </p:cNvCxnSpPr>
            <p:nvPr/>
          </p:nvCxnSpPr>
          <p:spPr>
            <a:xfrm flipV="1">
              <a:off x="8127330" y="1276216"/>
              <a:ext cx="2307334" cy="12333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连接符: 肘形 316">
              <a:extLst>
                <a:ext uri="{FF2B5EF4-FFF2-40B4-BE49-F238E27FC236}">
                  <a16:creationId xmlns:a16="http://schemas.microsoft.com/office/drawing/2014/main" id="{C7D417C6-2DE0-468B-AEF2-97C4E439A8DC}"/>
                </a:ext>
              </a:extLst>
            </p:cNvPr>
            <p:cNvCxnSpPr>
              <a:cxnSpLocks/>
              <a:stCxn id="173" idx="3"/>
            </p:cNvCxnSpPr>
            <p:nvPr/>
          </p:nvCxnSpPr>
          <p:spPr>
            <a:xfrm>
              <a:off x="2462485" y="1783585"/>
              <a:ext cx="2060888" cy="360396"/>
            </a:xfrm>
            <a:prstGeom prst="bentConnector3">
              <a:avLst>
                <a:gd name="adj1" fmla="val 100121"/>
              </a:avLst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8" name="文本框 317">
              <a:extLst>
                <a:ext uri="{FF2B5EF4-FFF2-40B4-BE49-F238E27FC236}">
                  <a16:creationId xmlns:a16="http://schemas.microsoft.com/office/drawing/2014/main" id="{3575DA19-E630-4DF9-9B9C-BDAAC28203FB}"/>
                </a:ext>
              </a:extLst>
            </p:cNvPr>
            <p:cNvSpPr txBox="1"/>
            <p:nvPr/>
          </p:nvSpPr>
          <p:spPr>
            <a:xfrm>
              <a:off x="5718215" y="2140599"/>
              <a:ext cx="540147" cy="32450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HMI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B8E604AE-CB00-4A0B-9C2A-C5268C861401}"/>
                </a:ext>
              </a:extLst>
            </p:cNvPr>
            <p:cNvCxnSpPr>
              <a:cxnSpLocks/>
              <a:stCxn id="188" idx="3"/>
              <a:endCxn id="318" idx="1"/>
            </p:cNvCxnSpPr>
            <p:nvPr/>
          </p:nvCxnSpPr>
          <p:spPr>
            <a:xfrm>
              <a:off x="5267501" y="2302853"/>
              <a:ext cx="450713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文本框 319">
              <a:extLst>
                <a:ext uri="{FF2B5EF4-FFF2-40B4-BE49-F238E27FC236}">
                  <a16:creationId xmlns:a16="http://schemas.microsoft.com/office/drawing/2014/main" id="{E98D7622-7D54-43DB-AF9C-90B89BCAA603}"/>
                </a:ext>
              </a:extLst>
            </p:cNvPr>
            <p:cNvSpPr txBox="1"/>
            <p:nvPr/>
          </p:nvSpPr>
          <p:spPr>
            <a:xfrm>
              <a:off x="1225597" y="2300075"/>
              <a:ext cx="1245531" cy="242756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Dehumidifier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98F18C57-88E3-4B54-BDF3-13490A29A488}"/>
                </a:ext>
              </a:extLst>
            </p:cNvPr>
            <p:cNvCxnSpPr>
              <a:cxnSpLocks/>
              <a:stCxn id="320" idx="3"/>
            </p:cNvCxnSpPr>
            <p:nvPr/>
          </p:nvCxnSpPr>
          <p:spPr>
            <a:xfrm flipV="1">
              <a:off x="2471128" y="2412171"/>
              <a:ext cx="1961943" cy="9283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2" name="文本框 321">
              <a:extLst>
                <a:ext uri="{FF2B5EF4-FFF2-40B4-BE49-F238E27FC236}">
                  <a16:creationId xmlns:a16="http://schemas.microsoft.com/office/drawing/2014/main" id="{6014F20C-31D1-4CFA-A8BA-6A5766712576}"/>
                </a:ext>
              </a:extLst>
            </p:cNvPr>
            <p:cNvSpPr txBox="1"/>
            <p:nvPr/>
          </p:nvSpPr>
          <p:spPr>
            <a:xfrm>
              <a:off x="2219925" y="2221531"/>
              <a:ext cx="127110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RS485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3" name="矩形 322">
              <a:extLst>
                <a:ext uri="{FF2B5EF4-FFF2-40B4-BE49-F238E27FC236}">
                  <a16:creationId xmlns:a16="http://schemas.microsoft.com/office/drawing/2014/main" id="{B21838F8-3E8A-495C-860D-700AB05EED66}"/>
                </a:ext>
              </a:extLst>
            </p:cNvPr>
            <p:cNvSpPr/>
            <p:nvPr/>
          </p:nvSpPr>
          <p:spPr>
            <a:xfrm>
              <a:off x="9142474" y="3702108"/>
              <a:ext cx="94720" cy="1637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>
              <a:outerShdw blurRad="190500" dist="127000" dir="18900000" algn="b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4" name="文本框 323">
              <a:extLst>
                <a:ext uri="{FF2B5EF4-FFF2-40B4-BE49-F238E27FC236}">
                  <a16:creationId xmlns:a16="http://schemas.microsoft.com/office/drawing/2014/main" id="{137D1DFC-4C37-4E4E-ADB8-2FEA6E87A832}"/>
                </a:ext>
              </a:extLst>
            </p:cNvPr>
            <p:cNvSpPr txBox="1"/>
            <p:nvPr/>
          </p:nvSpPr>
          <p:spPr>
            <a:xfrm>
              <a:off x="5089276" y="2072693"/>
              <a:ext cx="81573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CAN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5" name="文本框 324">
              <a:extLst>
                <a:ext uri="{FF2B5EF4-FFF2-40B4-BE49-F238E27FC236}">
                  <a16:creationId xmlns:a16="http://schemas.microsoft.com/office/drawing/2014/main" id="{D9B46B56-621C-4B08-A199-CBBE2D71E122}"/>
                </a:ext>
              </a:extLst>
            </p:cNvPr>
            <p:cNvSpPr txBox="1"/>
            <p:nvPr/>
          </p:nvSpPr>
          <p:spPr>
            <a:xfrm>
              <a:off x="7358310" y="1968560"/>
              <a:ext cx="139031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Isolating switch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B922ECF3-97B2-4C87-9EA7-CCA5ED5AAE8E}"/>
                </a:ext>
              </a:extLst>
            </p:cNvPr>
            <p:cNvCxnSpPr>
              <a:cxnSpLocks/>
              <a:stCxn id="327" idx="3"/>
              <a:endCxn id="234" idx="1"/>
            </p:cNvCxnSpPr>
            <p:nvPr/>
          </p:nvCxnSpPr>
          <p:spPr>
            <a:xfrm>
              <a:off x="2429073" y="4357209"/>
              <a:ext cx="439632" cy="4012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7" name="矩形 326">
              <a:extLst>
                <a:ext uri="{FF2B5EF4-FFF2-40B4-BE49-F238E27FC236}">
                  <a16:creationId xmlns:a16="http://schemas.microsoft.com/office/drawing/2014/main" id="{8B33254E-3C54-47A5-952F-E3921097A24B}"/>
                </a:ext>
              </a:extLst>
            </p:cNvPr>
            <p:cNvSpPr/>
            <p:nvPr/>
          </p:nvSpPr>
          <p:spPr>
            <a:xfrm>
              <a:off x="1461917" y="4194954"/>
              <a:ext cx="967156" cy="32450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VCMU1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8" name="矩形 327">
              <a:extLst>
                <a:ext uri="{FF2B5EF4-FFF2-40B4-BE49-F238E27FC236}">
                  <a16:creationId xmlns:a16="http://schemas.microsoft.com/office/drawing/2014/main" id="{594F7C02-8D78-483C-B617-78C5E3C1D816}"/>
                </a:ext>
              </a:extLst>
            </p:cNvPr>
            <p:cNvSpPr/>
            <p:nvPr/>
          </p:nvSpPr>
          <p:spPr>
            <a:xfrm>
              <a:off x="1461653" y="4656650"/>
              <a:ext cx="967156" cy="32199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VCMU2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54F2041E-97BE-4EF1-AEA5-4E1A3EDED8B5}"/>
                </a:ext>
              </a:extLst>
            </p:cNvPr>
            <p:cNvCxnSpPr>
              <a:cxnSpLocks/>
              <a:stCxn id="328" idx="3"/>
              <a:endCxn id="235" idx="1"/>
            </p:cNvCxnSpPr>
            <p:nvPr/>
          </p:nvCxnSpPr>
          <p:spPr>
            <a:xfrm flipV="1">
              <a:off x="2428809" y="4816698"/>
              <a:ext cx="439896" cy="952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E8D5C0FA-3C65-489C-BAAA-4E2D2FE2966B}"/>
                </a:ext>
              </a:extLst>
            </p:cNvPr>
            <p:cNvCxnSpPr>
              <a:cxnSpLocks/>
              <a:stCxn id="331" idx="3"/>
              <a:endCxn id="233" idx="1"/>
            </p:cNvCxnSpPr>
            <p:nvPr/>
          </p:nvCxnSpPr>
          <p:spPr>
            <a:xfrm>
              <a:off x="2429073" y="5558903"/>
              <a:ext cx="439632" cy="1257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1" name="矩形 330">
              <a:extLst>
                <a:ext uri="{FF2B5EF4-FFF2-40B4-BE49-F238E27FC236}">
                  <a16:creationId xmlns:a16="http://schemas.microsoft.com/office/drawing/2014/main" id="{36A388DD-40C3-4991-8E4B-6FEC85C94677}"/>
                </a:ext>
              </a:extLst>
            </p:cNvPr>
            <p:cNvSpPr/>
            <p:nvPr/>
          </p:nvSpPr>
          <p:spPr>
            <a:xfrm>
              <a:off x="1461917" y="5397904"/>
              <a:ext cx="967156" cy="32199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2" name="矩形 331">
              <a:extLst>
                <a:ext uri="{FF2B5EF4-FFF2-40B4-BE49-F238E27FC236}">
                  <a16:creationId xmlns:a16="http://schemas.microsoft.com/office/drawing/2014/main" id="{5234C8A7-C431-46F3-AB8B-F9EEAAADFE36}"/>
                </a:ext>
              </a:extLst>
            </p:cNvPr>
            <p:cNvSpPr/>
            <p:nvPr/>
          </p:nvSpPr>
          <p:spPr>
            <a:xfrm>
              <a:off x="7145247" y="4202873"/>
              <a:ext cx="967156" cy="319903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VCMU1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33" name="直接连接符 332">
              <a:extLst>
                <a:ext uri="{FF2B5EF4-FFF2-40B4-BE49-F238E27FC236}">
                  <a16:creationId xmlns:a16="http://schemas.microsoft.com/office/drawing/2014/main" id="{EABAAA52-200D-46F3-B32F-0C1AABB8E891}"/>
                </a:ext>
              </a:extLst>
            </p:cNvPr>
            <p:cNvCxnSpPr>
              <a:cxnSpLocks/>
              <a:stCxn id="332" idx="3"/>
              <a:endCxn id="278" idx="1"/>
            </p:cNvCxnSpPr>
            <p:nvPr/>
          </p:nvCxnSpPr>
          <p:spPr>
            <a:xfrm flipV="1">
              <a:off x="8112403" y="4361221"/>
              <a:ext cx="436248" cy="1604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4" name="矩形 333">
              <a:extLst>
                <a:ext uri="{FF2B5EF4-FFF2-40B4-BE49-F238E27FC236}">
                  <a16:creationId xmlns:a16="http://schemas.microsoft.com/office/drawing/2014/main" id="{644F782E-660D-4F47-97C5-5DCBACD89145}"/>
                </a:ext>
              </a:extLst>
            </p:cNvPr>
            <p:cNvSpPr/>
            <p:nvPr/>
          </p:nvSpPr>
          <p:spPr>
            <a:xfrm>
              <a:off x="7144983" y="4651138"/>
              <a:ext cx="967156" cy="327511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VCMU2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35" name="直接连接符 334">
              <a:extLst>
                <a:ext uri="{FF2B5EF4-FFF2-40B4-BE49-F238E27FC236}">
                  <a16:creationId xmlns:a16="http://schemas.microsoft.com/office/drawing/2014/main" id="{3E421A22-C65B-479F-A0FF-87311D0A41BD}"/>
                </a:ext>
              </a:extLst>
            </p:cNvPr>
            <p:cNvCxnSpPr>
              <a:cxnSpLocks/>
              <a:stCxn id="334" idx="3"/>
              <a:endCxn id="279" idx="1"/>
            </p:cNvCxnSpPr>
            <p:nvPr/>
          </p:nvCxnSpPr>
          <p:spPr>
            <a:xfrm>
              <a:off x="8112139" y="4814894"/>
              <a:ext cx="436512" cy="1804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6" name="矩形 335">
              <a:extLst>
                <a:ext uri="{FF2B5EF4-FFF2-40B4-BE49-F238E27FC236}">
                  <a16:creationId xmlns:a16="http://schemas.microsoft.com/office/drawing/2014/main" id="{3EC23118-61B1-4A2A-B637-225D0C4C14C2}"/>
                </a:ext>
              </a:extLst>
            </p:cNvPr>
            <p:cNvSpPr/>
            <p:nvPr/>
          </p:nvSpPr>
          <p:spPr>
            <a:xfrm>
              <a:off x="7145247" y="5397904"/>
              <a:ext cx="967156" cy="32199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37" name="直接连接符 336">
              <a:extLst>
                <a:ext uri="{FF2B5EF4-FFF2-40B4-BE49-F238E27FC236}">
                  <a16:creationId xmlns:a16="http://schemas.microsoft.com/office/drawing/2014/main" id="{C8065E29-406C-4F59-A60A-0EFB1943A294}"/>
                </a:ext>
              </a:extLst>
            </p:cNvPr>
            <p:cNvCxnSpPr>
              <a:cxnSpLocks/>
              <a:stCxn id="336" idx="3"/>
              <a:endCxn id="277" idx="1"/>
            </p:cNvCxnSpPr>
            <p:nvPr/>
          </p:nvCxnSpPr>
          <p:spPr>
            <a:xfrm>
              <a:off x="8112403" y="5558903"/>
              <a:ext cx="436248" cy="1257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11842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E9BF4AD2-A9B1-4759-9B2C-F6D7E6198C0B}"/>
              </a:ext>
            </a:extLst>
          </p:cNvPr>
          <p:cNvSpPr txBox="1"/>
          <p:nvPr/>
        </p:nvSpPr>
        <p:spPr>
          <a:xfrm>
            <a:off x="381599" y="226800"/>
            <a:ext cx="4444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2 Project Proposal —Cell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42B4826-97FB-42BC-B4AB-24AAFA1A9091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/>
          </p:nvPr>
        </p:nvGraphicFramePr>
        <p:xfrm>
          <a:off x="3886308" y="747661"/>
          <a:ext cx="7937393" cy="5362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4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847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30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思源黑体 CN Light" panose="020B0300000000000000" pitchFamily="34" charset="-122"/>
                          <a:cs typeface="Times New Roman" panose="02020603050405020304" pitchFamily="18" charset="0"/>
                        </a:rPr>
                        <a:t>No.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思源黑体 CN Light" panose="020B03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0160" marR="10160" marT="101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思源黑体 CN Light" panose="020B0300000000000000" pitchFamily="34" charset="-122"/>
                          <a:cs typeface="Times New Roman" panose="02020603050405020304" pitchFamily="18" charset="0"/>
                        </a:rPr>
                        <a:t>Description 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思源黑体 CN Light" panose="020B03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rgbClr val="FFFFFF">
                          <a:alpha val="2980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alpha val="2980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alpha val="2980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思源黑体 CN Light" panose="020B0300000000000000" pitchFamily="34" charset="-122"/>
                          <a:cs typeface="Times New Roman" panose="02020603050405020304" pitchFamily="18" charset="0"/>
                        </a:rPr>
                        <a:t>Unit</a:t>
                      </a:r>
                      <a:r>
                        <a:rPr lang="en-US" sz="16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思源黑体 CN Light" panose="020B0300000000000000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思源黑体 CN Light" panose="020B03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思源黑体 CN Light" panose="020B0300000000000000" pitchFamily="34" charset="-122"/>
                          <a:cs typeface="Times New Roman" panose="02020603050405020304" pitchFamily="18" charset="0"/>
                        </a:rPr>
                        <a:t>Parameter 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思源黑体 CN Light" panose="020B03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思源黑体 CN Light" panose="020B0300000000000000" pitchFamily="34" charset="-122"/>
                          <a:cs typeface="Times New Roman" panose="02020603050405020304" pitchFamily="18" charset="0"/>
                        </a:rPr>
                        <a:t>Remark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703">
                <a:tc rowSpan="3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1</a:t>
                      </a:r>
                    </a:p>
                  </a:txBody>
                  <a:tcPr marL="10160" marR="10160" marT="101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Dimension (w/ blue film)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Height (H)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mm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{{CELL_H_MM}}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Pole center distance {{CELL_POLE_MM}} mm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703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Length (L)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{{CELL_L_MM}}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703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Thickness (T)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{{CELL_T_MM}}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2</a:t>
                      </a:r>
                    </a:p>
                  </a:txBody>
                  <a:tcPr marL="10160" marR="10160" marT="101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Nominal capacity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3175" cap="flat" cmpd="sng" algn="ctr">
                      <a:solidFill>
                        <a:srgbClr val="FFFFFF">
                          <a:alpha val="2980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Ah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{{CELL_AH}}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25℃±2℃, 0.5P, BOL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3</a:t>
                      </a:r>
                    </a:p>
                  </a:txBody>
                  <a:tcPr marL="10160" marR="10160" marT="101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Nominal energy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3175" cap="flat" cmpd="sng" algn="ctr">
                      <a:solidFill>
                        <a:srgbClr val="FFFFFF">
                          <a:alpha val="2980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Wh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{{CELL_WH}}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{{CELL_AH}} Ah × {{CELL_V}} V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4</a:t>
                      </a:r>
                    </a:p>
                  </a:txBody>
                  <a:tcPr marL="10160" marR="10160" marT="101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Gravimetric energy density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3175" cap="flat" cmpd="sng" algn="ctr">
                      <a:solidFill>
                        <a:srgbClr val="FFFFFF">
                          <a:alpha val="2980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Wh/kg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{{CELL_WH_KG}}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Derived: {{CELL_WH}} Wh / {{CELL_WEIGHT_KG}} kg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5</a:t>
                      </a:r>
                    </a:p>
                  </a:txBody>
                  <a:tcPr marL="10160" marR="10160" marT="101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ACR / DCR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mΩ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{{CELL_ACR_DCR}}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ACR: AC 1kHz; DCR: 50% SOC, 1C, 10s, 25℃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38722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6</a:t>
                      </a:r>
                    </a:p>
                  </a:txBody>
                  <a:tcPr marL="10160" marR="10160" marT="101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Nominal voltage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3175" cap="flat" cmpd="sng" algn="ctr">
                      <a:solidFill>
                        <a:srgbClr val="FFFFFF">
                          <a:alpha val="2980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V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{{CELL_V}}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Operating range {{CELL_V_MIN}}~{{CELL_V_MAX}} V/cell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7</a:t>
                      </a:r>
                    </a:p>
                  </a:txBody>
                  <a:tcPr marL="10160" marR="10160" marT="101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Standard power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3175" cap="flat" cmpd="sng" algn="ctr">
                      <a:solidFill>
                        <a:srgbClr val="FFFFFF">
                          <a:alpha val="2980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{{CELL_STD_POWER_W}}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{{RATE}} ({{CELL_WH}} Wh × {{RATE_NUM}})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8</a:t>
                      </a:r>
                    </a:p>
                  </a:txBody>
                  <a:tcPr marL="10160" marR="10160" marT="101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Cycle life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cycle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{{CELL_CYCLE_LIFE}}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25℃±2℃, 0.5P, {{EOL_SOH}} SOH; 45℃ {{CYCLES_45C}} cycles @80% SOH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530759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9</a:t>
                      </a:r>
                    </a:p>
                  </a:txBody>
                  <a:tcPr marL="10160" marR="10160" marT="101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Weight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3175" cap="flat" cmpd="sng" algn="ctr">
                      <a:solidFill>
                        <a:srgbClr val="FFFFFF">
                          <a:alpha val="2980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g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{{CELL_WEIGHT_G}}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Incl. blue film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5868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10</a:t>
                      </a:r>
                    </a:p>
                  </a:txBody>
                  <a:tcPr marL="10160" marR="10160" marT="101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Shipment SOC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3175" cap="flat" cmpd="sng" algn="ctr">
                      <a:solidFill>
                        <a:srgbClr val="FFFFFF">
                          <a:alpha val="29804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%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{{SHIPMENT_SOC}}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Ex-factory state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11</a:t>
                      </a:r>
                    </a:p>
                  </a:txBody>
                  <a:tcPr marL="10160" marR="10160" marT="101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Certification (Ongoing)</a:t>
                      </a:r>
                    </a:p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/>
                  </a:txBody>
                  <a:tcPr marL="10160" marR="10160" marT="101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{{CERT_CELL}}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{{CERT_CELL_NOTE}}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020069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BD7DDDF6-73E6-4915-BA08-CEEBD25D6C6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9" r="8390"/>
          <a:stretch/>
        </p:blipFill>
        <p:spPr>
          <a:xfrm>
            <a:off x="562019" y="2245138"/>
            <a:ext cx="2777485" cy="2361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934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E9BF4AD2-A9B1-4759-9B2C-F6D7E6198C0B}"/>
              </a:ext>
            </a:extLst>
          </p:cNvPr>
          <p:cNvSpPr txBox="1"/>
          <p:nvPr/>
        </p:nvSpPr>
        <p:spPr>
          <a:xfrm>
            <a:off x="381599" y="226800"/>
            <a:ext cx="5003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2 Project Proposal —Pack</a:t>
            </a: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7C60D4E-0D4D-4353-B0D5-33476421A0A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927378" y="747658"/>
          <a:ext cx="5896324" cy="5362672"/>
        </p:xfrm>
        <a:graphic>
          <a:graphicData uri="http://schemas.openxmlformats.org/drawingml/2006/table">
            <a:tbl>
              <a:tblPr/>
              <a:tblGrid>
                <a:gridCol w="2008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9266">
                  <a:extLst>
                    <a:ext uri="{9D8B030D-6E8A-4147-A177-3AD203B41FA5}">
                      <a16:colId xmlns:a16="http://schemas.microsoft.com/office/drawing/2014/main" val="589431332"/>
                    </a:ext>
                  </a:extLst>
                </a:gridCol>
              </a:tblGrid>
              <a:tr h="335167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Item</a:t>
                      </a:r>
                    </a:p>
                  </a:txBody>
                  <a:tcPr marL="6441" marR="6441" marT="644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endParaRPr lang="en-US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+mn-cs"/>
                      </a:endParaRPr>
                    </a:p>
                  </a:txBody>
                  <a:tcPr marL="6441" marR="6441" marT="644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77914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marL="6441" marR="6441" marT="644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Pack type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{{PACK_MODEL}}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Battery cell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{{CELL_MODEL}} ({{CELL_AH}}Ah)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Capacity / Ah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{{CELL_AH}}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Rated energy / kWh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{{PACK_ENERGY_KWH}}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Configuration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{{PACK_CONFIG}}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Nominal voltage / V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{{PACK_V}}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Voltage range / V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{{PACK_V_MIN}} – {{PACK_V_MAX}}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Duration / h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6060" marR="6060" marT="606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≥{{DURATION_H}}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16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Operation temperature / ℃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Charge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{{CHG_T_MIN}} – {{CHG_T_MAX}}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1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Discharge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{{DISCHG_T_MIN}} – {{DISCHG_T_MAX}}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Dimension (D×W×H) / mm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{{PACK_DIM_MM}}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Weight / kg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{{PACK_WEIGHT_KG}}</a:t>
                      </a:r>
                      <a:endParaRPr lang="zh-CN" altLang="en-US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IP level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{{PACK_IP}}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Thermal management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Liquid cooling ({{PACK_FLOW_LPM}} L/min)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5167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Certification (Ongoing)</a:t>
                      </a:r>
                    </a:p>
                  </a:txBody>
                  <a:tcPr marL="6060" marR="6060" marT="6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{{CERT_PACK}}</a:t>
                      </a:r>
                    </a:p>
                  </a:txBody>
                  <a:tcPr marL="6060" marR="6060" marT="606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146288"/>
                  </a:ext>
                </a:extLst>
              </a:tr>
            </a:tbl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8D3CC5E5-5EFC-43F1-AF6B-0C5EE43AF5D9}"/>
              </a:ext>
            </a:extLst>
          </p:cNvPr>
          <p:cNvGrpSpPr/>
          <p:nvPr/>
        </p:nvGrpSpPr>
        <p:grpSpPr>
          <a:xfrm>
            <a:off x="285765" y="1913818"/>
            <a:ext cx="5470841" cy="3499512"/>
            <a:chOff x="37917" y="2574218"/>
            <a:chExt cx="5470841" cy="3499512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79553115-F718-4A6B-B668-DDB9B22A8FF0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08" t="10503" r="7686" b="15543"/>
            <a:stretch>
              <a:fillRect/>
            </a:stretch>
          </p:blipFill>
          <p:spPr>
            <a:xfrm>
              <a:off x="381597" y="2733172"/>
              <a:ext cx="4399915" cy="2688590"/>
            </a:xfrm>
            <a:prstGeom prst="rect">
              <a:avLst/>
            </a:prstGeom>
            <a:ln>
              <a:noFill/>
            </a:ln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A66C7FF4-66C3-460B-9444-433E595FDF7F}"/>
                </a:ext>
              </a:extLst>
            </p:cNvPr>
            <p:cNvSpPr txBox="1"/>
            <p:nvPr/>
          </p:nvSpPr>
          <p:spPr>
            <a:xfrm>
              <a:off x="37917" y="3249238"/>
              <a:ext cx="1904609" cy="328217"/>
            </a:xfrm>
            <a:prstGeom prst="rect">
              <a:avLst/>
            </a:prstGeom>
            <a:noFill/>
          </p:spPr>
          <p:txBody>
            <a:bodyPr wrap="square" lIns="121907" tIns="60953" rIns="121907" bIns="60953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rPr>
                <a:t>Maintenance window</a:t>
              </a:r>
              <a:endPara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B8457F6-566D-4701-BD72-3385573B56D2}"/>
                </a:ext>
              </a:extLst>
            </p:cNvPr>
            <p:cNvSpPr txBox="1"/>
            <p:nvPr/>
          </p:nvSpPr>
          <p:spPr>
            <a:xfrm>
              <a:off x="1271100" y="2574218"/>
              <a:ext cx="2160121" cy="328217"/>
            </a:xfrm>
            <a:prstGeom prst="rect">
              <a:avLst/>
            </a:prstGeom>
            <a:noFill/>
          </p:spPr>
          <p:txBody>
            <a:bodyPr wrap="square" lIns="121907" tIns="60953" rIns="121907" bIns="60953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rPr>
                <a:t>Communication interface</a:t>
              </a:r>
              <a:endPara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FEE56C3-25EC-4FBF-A515-2EA7C7F3509C}"/>
                </a:ext>
              </a:extLst>
            </p:cNvPr>
            <p:cNvSpPr txBox="1"/>
            <p:nvPr/>
          </p:nvSpPr>
          <p:spPr>
            <a:xfrm>
              <a:off x="4471594" y="4963744"/>
              <a:ext cx="891573" cy="297444"/>
            </a:xfrm>
            <a:prstGeom prst="rect">
              <a:avLst/>
            </a:prstGeom>
            <a:noFill/>
          </p:spPr>
          <p:txBody>
            <a:bodyPr wrap="none" lIns="91431" tIns="45715" rIns="91431" bIns="45715" rtlCol="0" anchor="b">
              <a:spAutoFit/>
            </a:bodyPr>
            <a:lstStyle>
              <a:defPPr>
                <a:defRPr lang="zh-CN"/>
              </a:defPPr>
              <a:lvl1pPr>
                <a:defRPr sz="1400">
                  <a:ea typeface="黑体" panose="02010609060101010101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rPr>
                <a:t>Cold plate</a:t>
              </a:r>
              <a:endPara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09EF9B6-779C-4CFA-91F2-CAE8C62C27F0}"/>
                </a:ext>
              </a:extLst>
            </p:cNvPr>
            <p:cNvSpPr txBox="1"/>
            <p:nvPr/>
          </p:nvSpPr>
          <p:spPr>
            <a:xfrm>
              <a:off x="1445212" y="5335520"/>
              <a:ext cx="554407" cy="297444"/>
            </a:xfrm>
            <a:prstGeom prst="rect">
              <a:avLst/>
            </a:prstGeom>
            <a:noFill/>
          </p:spPr>
          <p:txBody>
            <a:bodyPr wrap="square" lIns="91431" tIns="45715" rIns="91431" bIns="45715" rtlCol="0" anchor="b">
              <a:spAutoFit/>
            </a:bodyPr>
            <a:lstStyle>
              <a:defPPr>
                <a:defRPr lang="zh-CN"/>
              </a:defPPr>
              <a:lvl1pPr>
                <a:defRPr sz="1400">
                  <a:ea typeface="黑体" panose="02010609060101010101" charset="-122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rPr>
                <a:t>MSD</a:t>
              </a:r>
              <a:endPara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AB0603FF-47C4-4780-ADD7-FB81915FCB02}"/>
                </a:ext>
              </a:extLst>
            </p:cNvPr>
            <p:cNvCxnSpPr>
              <a:cxnSpLocks/>
              <a:stCxn id="28" idx="2"/>
            </p:cNvCxnSpPr>
            <p:nvPr/>
          </p:nvCxnSpPr>
          <p:spPr>
            <a:xfrm>
              <a:off x="990222" y="3577455"/>
              <a:ext cx="0" cy="852908"/>
            </a:xfrm>
            <a:prstGeom prst="straightConnector1">
              <a:avLst/>
            </a:prstGeom>
            <a:ln>
              <a:solidFill>
                <a:srgbClr val="004EA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3413F71A-88DC-4AE5-B062-588BE9E3921B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 flipH="1">
              <a:off x="2351160" y="2902435"/>
              <a:ext cx="1" cy="1527928"/>
            </a:xfrm>
            <a:prstGeom prst="straightConnector1">
              <a:avLst/>
            </a:prstGeom>
            <a:ln>
              <a:solidFill>
                <a:srgbClr val="004EA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645EF54-DF10-4B69-AED7-3C30A4635704}"/>
                </a:ext>
              </a:extLst>
            </p:cNvPr>
            <p:cNvCxnSpPr>
              <a:cxnSpLocks/>
              <a:stCxn id="30" idx="1"/>
            </p:cNvCxnSpPr>
            <p:nvPr/>
          </p:nvCxnSpPr>
          <p:spPr>
            <a:xfrm flipH="1">
              <a:off x="3143250" y="5112466"/>
              <a:ext cx="1328344" cy="0"/>
            </a:xfrm>
            <a:prstGeom prst="straightConnector1">
              <a:avLst/>
            </a:prstGeom>
            <a:ln>
              <a:solidFill>
                <a:srgbClr val="004EA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D1DA136-2967-4987-BCC3-BA25707AA01B}"/>
                </a:ext>
              </a:extLst>
            </p:cNvPr>
            <p:cNvSpPr txBox="1"/>
            <p:nvPr/>
          </p:nvSpPr>
          <p:spPr>
            <a:xfrm>
              <a:off x="4471594" y="4334077"/>
              <a:ext cx="791817" cy="297444"/>
            </a:xfrm>
            <a:prstGeom prst="rect">
              <a:avLst/>
            </a:prstGeom>
            <a:noFill/>
          </p:spPr>
          <p:txBody>
            <a:bodyPr wrap="square" lIns="91431" tIns="45715" rIns="91431" bIns="45715" rtlCol="0" anchor="b">
              <a:spAutoFit/>
            </a:bodyPr>
            <a:lstStyle>
              <a:defPPr>
                <a:defRPr lang="zh-CN"/>
              </a:defPPr>
              <a:lvl1pPr>
                <a:defRPr sz="1400">
                  <a:ea typeface="黑体" panose="02010609060101010101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rPr>
                <a:t>Positive</a:t>
              </a:r>
              <a:endPara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96690A1-7740-4013-AB05-DBBACB8A4472}"/>
                </a:ext>
              </a:extLst>
            </p:cNvPr>
            <p:cNvSpPr txBox="1"/>
            <p:nvPr/>
          </p:nvSpPr>
          <p:spPr>
            <a:xfrm>
              <a:off x="3070668" y="5433828"/>
              <a:ext cx="856172" cy="297444"/>
            </a:xfrm>
            <a:prstGeom prst="rect">
              <a:avLst/>
            </a:prstGeom>
            <a:noFill/>
          </p:spPr>
          <p:txBody>
            <a:bodyPr wrap="square" lIns="91431" tIns="45715" rIns="91431" bIns="45715" rtlCol="0" anchor="b">
              <a:spAutoFit/>
            </a:bodyPr>
            <a:lstStyle>
              <a:defPPr>
                <a:defRPr lang="zh-CN"/>
              </a:defPPr>
              <a:lvl1pPr>
                <a:defRPr sz="1400">
                  <a:ea typeface="黑体" panose="02010609060101010101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rPr>
                <a:t>Negative</a:t>
              </a:r>
              <a:endPara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5024B1B0-05D1-47B7-8F96-BF4D07D343B9}"/>
                </a:ext>
              </a:extLst>
            </p:cNvPr>
            <p:cNvSpPr txBox="1"/>
            <p:nvPr/>
          </p:nvSpPr>
          <p:spPr>
            <a:xfrm>
              <a:off x="4476121" y="4612539"/>
              <a:ext cx="1032637" cy="297444"/>
            </a:xfrm>
            <a:prstGeom prst="rect">
              <a:avLst/>
            </a:prstGeom>
            <a:noFill/>
          </p:spPr>
          <p:txBody>
            <a:bodyPr wrap="square" lIns="91431" tIns="45715" rIns="91431" bIns="45715" rtlCol="0" anchor="b">
              <a:spAutoFit/>
            </a:bodyPr>
            <a:lstStyle>
              <a:defPPr>
                <a:defRPr lang="zh-CN"/>
              </a:defPPr>
              <a:lvl1pPr>
                <a:defRPr sz="1400">
                  <a:ea typeface="黑体" panose="02010609060101010101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rPr>
                <a:t>Safety valve</a:t>
              </a:r>
              <a:endPara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361935F4-9687-4BDA-8299-7CA758DA01DB}"/>
                </a:ext>
              </a:extLst>
            </p:cNvPr>
            <p:cNvCxnSpPr>
              <a:cxnSpLocks/>
              <a:stCxn id="35" idx="1"/>
            </p:cNvCxnSpPr>
            <p:nvPr/>
          </p:nvCxnSpPr>
          <p:spPr>
            <a:xfrm flipH="1">
              <a:off x="2672079" y="4482799"/>
              <a:ext cx="1799515" cy="3631"/>
            </a:xfrm>
            <a:prstGeom prst="straightConnector1">
              <a:avLst/>
            </a:prstGeom>
            <a:ln>
              <a:solidFill>
                <a:srgbClr val="004EA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EA8AFFE1-760F-475E-A672-DF4AD5A8C2C7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flipH="1" flipV="1">
              <a:off x="3070668" y="4757630"/>
              <a:ext cx="1405453" cy="3631"/>
            </a:xfrm>
            <a:prstGeom prst="straightConnector1">
              <a:avLst/>
            </a:prstGeom>
            <a:ln>
              <a:solidFill>
                <a:srgbClr val="004EA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280BFBD-0738-458D-A84E-E335AFA7B654}"/>
                </a:ext>
              </a:extLst>
            </p:cNvPr>
            <p:cNvSpPr txBox="1"/>
            <p:nvPr/>
          </p:nvSpPr>
          <p:spPr>
            <a:xfrm>
              <a:off x="170669" y="5334760"/>
              <a:ext cx="1149480" cy="297444"/>
            </a:xfrm>
            <a:prstGeom prst="rect">
              <a:avLst/>
            </a:prstGeom>
            <a:noFill/>
          </p:spPr>
          <p:txBody>
            <a:bodyPr wrap="square" lIns="91431" tIns="45715" rIns="91431" bIns="45715" rtlCol="0" anchor="b">
              <a:spAutoFit/>
            </a:bodyPr>
            <a:lstStyle>
              <a:defPPr>
                <a:defRPr lang="zh-CN"/>
              </a:defPPr>
              <a:lvl1pPr>
                <a:defRPr sz="1400">
                  <a:ea typeface="黑体" panose="02010609060101010101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rPr>
                <a:t>Coolant outlet</a:t>
              </a:r>
              <a:endPara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9E719391-6BCA-4CF5-A62F-5E2DF494B9AF}"/>
                </a:ext>
              </a:extLst>
            </p:cNvPr>
            <p:cNvCxnSpPr>
              <a:cxnSpLocks/>
              <a:stCxn id="41" idx="0"/>
            </p:cNvCxnSpPr>
            <p:nvPr/>
          </p:nvCxnSpPr>
          <p:spPr>
            <a:xfrm flipV="1">
              <a:off x="745409" y="4714129"/>
              <a:ext cx="0" cy="620631"/>
            </a:xfrm>
            <a:prstGeom prst="straightConnector1">
              <a:avLst/>
            </a:prstGeom>
            <a:ln>
              <a:solidFill>
                <a:srgbClr val="004EA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连接符: 肘形 43">
              <a:extLst>
                <a:ext uri="{FF2B5EF4-FFF2-40B4-BE49-F238E27FC236}">
                  <a16:creationId xmlns:a16="http://schemas.microsoft.com/office/drawing/2014/main" id="{7FBE53A4-AE55-4E75-A714-365D870590EF}"/>
                </a:ext>
              </a:extLst>
            </p:cNvPr>
            <p:cNvCxnSpPr>
              <a:stCxn id="31" idx="3"/>
            </p:cNvCxnSpPr>
            <p:nvPr/>
          </p:nvCxnSpPr>
          <p:spPr>
            <a:xfrm flipV="1">
              <a:off x="1999619" y="4757630"/>
              <a:ext cx="306701" cy="72661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813A5A7D-27F2-4EF9-A735-2A00A5804E4B}"/>
                </a:ext>
              </a:extLst>
            </p:cNvPr>
            <p:cNvCxnSpPr>
              <a:stCxn id="36" idx="1"/>
            </p:cNvCxnSpPr>
            <p:nvPr/>
          </p:nvCxnSpPr>
          <p:spPr>
            <a:xfrm rot="10800000">
              <a:off x="2672080" y="4805680"/>
              <a:ext cx="398588" cy="77687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BBEDB657-AC39-42F5-8830-B0DC1309C269}"/>
                </a:ext>
              </a:extLst>
            </p:cNvPr>
            <p:cNvSpPr txBox="1"/>
            <p:nvPr/>
          </p:nvSpPr>
          <p:spPr>
            <a:xfrm>
              <a:off x="3070668" y="5776286"/>
              <a:ext cx="1149480" cy="297444"/>
            </a:xfrm>
            <a:prstGeom prst="rect">
              <a:avLst/>
            </a:prstGeom>
            <a:noFill/>
          </p:spPr>
          <p:txBody>
            <a:bodyPr wrap="square" lIns="91431" tIns="45715" rIns="91431" bIns="45715" rtlCol="0" anchor="b">
              <a:spAutoFit/>
            </a:bodyPr>
            <a:lstStyle>
              <a:defPPr>
                <a:defRPr lang="zh-CN"/>
              </a:defPPr>
              <a:lvl1pPr>
                <a:defRPr sz="1400">
                  <a:ea typeface="黑体" panose="02010609060101010101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Normal" panose="020B0400000000000000" pitchFamily="34" charset="-122"/>
                  <a:cs typeface="Times New Roman" panose="02020603050405020304" pitchFamily="18" charset="0"/>
                </a:rPr>
                <a:t>Coolant inlet</a:t>
              </a:r>
              <a:endPara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Normal" panose="020B04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7" name="连接符: 肘形 46">
              <a:extLst>
                <a:ext uri="{FF2B5EF4-FFF2-40B4-BE49-F238E27FC236}">
                  <a16:creationId xmlns:a16="http://schemas.microsoft.com/office/drawing/2014/main" id="{767F1EE1-21B3-43CF-BE3B-E3FBAE822A34}"/>
                </a:ext>
              </a:extLst>
            </p:cNvPr>
            <p:cNvCxnSpPr>
              <a:stCxn id="46" idx="1"/>
            </p:cNvCxnSpPr>
            <p:nvPr/>
          </p:nvCxnSpPr>
          <p:spPr>
            <a:xfrm rot="10800000">
              <a:off x="2494280" y="5112466"/>
              <a:ext cx="576388" cy="81254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0983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E9BF4AD2-A9B1-4759-9B2C-F6D7E6198C0B}"/>
              </a:ext>
            </a:extLst>
          </p:cNvPr>
          <p:cNvSpPr txBox="1"/>
          <p:nvPr/>
        </p:nvSpPr>
        <p:spPr>
          <a:xfrm>
            <a:off x="381599" y="226800"/>
            <a:ext cx="4200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2 Project Proposal —Cluster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E528916-E67B-4141-ABA7-FF41FDA4DBA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287861" y="747659"/>
          <a:ext cx="6535840" cy="5362683"/>
        </p:xfrm>
        <a:graphic>
          <a:graphicData uri="http://schemas.openxmlformats.org/drawingml/2006/table">
            <a:tbl>
              <a:tblPr/>
              <a:tblGrid>
                <a:gridCol w="1842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8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32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Item</a:t>
                      </a:r>
                    </a:p>
                  </a:txBody>
                  <a:tcPr marL="6441" marR="6441" marT="644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endParaRPr lang="en-US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+mn-cs"/>
                      </a:endParaRPr>
                    </a:p>
                  </a:txBody>
                  <a:tcPr marL="6441" marR="6441" marT="6441" marB="0" anchor="ctr"/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marL="6441" marR="6441" marT="644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12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Cluster type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{{CLUSTER_MODEL}}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443486"/>
                  </a:ext>
                </a:extLst>
              </a:tr>
              <a:tr h="337012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Battery cell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{{CELL_AH}}Ah ({{CELL_MODEL}}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12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Capacity / Ah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{{CELL_AH}}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012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Rated energy / kWh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{{CLUSTER_ENERGY_KWH}}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012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Configuration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{{CLUSTER_CONFIG}} ({{PACKS_PER_CLUSTER}} × {{PACK_MODEL}} in series)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012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Nominal voltage / V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{{CLUSTER_V}}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012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Voltage range / V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{{CLUSTER_V_MIN}} – {{CLUSTER_V_MAX}}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012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Duration / h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779145" rtl="0" eaLnBrk="1" fontAlgn="ctr" latinLnBrk="0" hangingPunct="1"/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6985" marR="6985" marT="6985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≥{{DURATION_H}}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012">
                <a:tc row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Operation temperature / ℃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Charge</a:t>
                      </a:r>
                    </a:p>
                  </a:txBody>
                  <a:tcPr marL="6985" marR="6985" marT="698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{{CHG_T_MIN}} – {{CHG_T_MAX}}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0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Discharge</a:t>
                      </a:r>
                    </a:p>
                  </a:txBody>
                  <a:tcPr marL="6985" marR="6985" marT="698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{{DISCHG_T_MIN}} – {{DISCHG_T_MAX}}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7012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Dimension (D×W×H) / mm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{{CLUSTER_DIM_MM}}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7012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 / T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{{CLUSTER_WEIGHT_T}}</a:t>
                      </a:r>
                      <a:endParaRPr lang="zh-CN" altLang="en-US" sz="13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7012">
                <a:tc gridSpan="2"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Thermal management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{{CLUSTER_THERMAL}}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624695">
                <a:tc gridSpan="2"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Certification (Ongoing)</a:t>
                      </a:r>
                    </a:p>
                  </a:txBody>
                  <a:tcPr marL="6985" marR="6985" marT="698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{{CERT_CLUSTER}}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5907"/>
                  </a:ext>
                </a:extLst>
              </a:tr>
            </a:tbl>
          </a:graphicData>
        </a:graphic>
      </p:graphicFrame>
      <p:pic>
        <p:nvPicPr>
          <p:cNvPr id="5" name="图片 4" descr="捕获">
            <a:extLst>
              <a:ext uri="{FF2B5EF4-FFF2-40B4-BE49-F238E27FC236}">
                <a16:creationId xmlns:a16="http://schemas.microsoft.com/office/drawing/2014/main" id="{9296A053-2A48-4E81-9437-41585506779E}"/>
              </a:ext>
            </a:extLst>
          </p:cNvPr>
          <p:cNvPicPr/>
          <p:nvPr/>
        </p:nvPicPr>
        <p:blipFill>
          <a:blip r:embed="rId2">
            <a:clrChange>
              <a:clrFrom>
                <a:srgbClr val="E8EAED"/>
              </a:clrFrom>
              <a:clrTo>
                <a:srgbClr val="E8EAE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93" t="18732" b="5086"/>
          <a:stretch>
            <a:fillRect/>
          </a:stretch>
        </p:blipFill>
        <p:spPr>
          <a:xfrm>
            <a:off x="1080167" y="1175385"/>
            <a:ext cx="2802890" cy="4507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44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885D932-DB0D-486D-92D7-B7F5739510CB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/>
          </p:nvPr>
        </p:nvGraphicFramePr>
        <p:xfrm>
          <a:off x="5287862" y="747658"/>
          <a:ext cx="6535840" cy="5362676"/>
        </p:xfrm>
        <a:graphic>
          <a:graphicData uri="http://schemas.openxmlformats.org/drawingml/2006/table">
            <a:tbl>
              <a:tblPr firstRow="1"/>
              <a:tblGrid>
                <a:gridCol w="2691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4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215"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Item</a:t>
                      </a:r>
                    </a:p>
                  </a:txBody>
                  <a:tcPr marL="6441" marR="6441" marT="6441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marL="6441" marR="6441" marT="644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System type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{{SYS_MODEL}}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883238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Battery cell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{{CELL_MODEL}} ({{CELL_AH}}Ah)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19372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Configuration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{{CLUSTERS_PER_CONTAINER}} × {{CLUSTER_CONFIG}}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14253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i="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Rated energy / kWh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{{CONTAINER_ENERGY_KWH}}</a:t>
                      </a:r>
                      <a:endParaRPr lang="en-US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28209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i="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Nominal voltage / V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{{CLUSTER_V}}</a:t>
                      </a:r>
                      <a:endParaRPr lang="en-US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995100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Voltage Range / V</a:t>
                      </a:r>
                      <a:endParaRPr lang="en-US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{{CLUSTER_V_MIN}} – {{CLUSTER_V_MAX}}</a:t>
                      </a:r>
                      <a:endParaRPr lang="en-US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53889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lt"/>
                        </a:rPr>
                        <a:t>Duration / h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≥{{DURATION_H}}</a:t>
                      </a:r>
                      <a:endParaRPr lang="en-US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9162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Thermal management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Liquid cooling + heating ({{COOLING_KW}} kW / {{HEATING_KW}} kW, {{REFRIGERANT}})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5846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pt-BR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Dimension (L×W×H) / mm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{{CONTAINER_DIM_MM}}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 / T</a:t>
                      </a:r>
                      <a:endParaRPr lang="en-US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i="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{{CONTAINER_WEIGHT_T}}</a:t>
                      </a:r>
                      <a:endParaRPr lang="en-US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235958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Operation temperature / ℃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{{CONTAINER_T_MIN}} – {{CONTAINER_T_MAX}}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level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{{CONTAINER_IP}}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Corrosion resistance level</a:t>
                      </a:r>
                      <a:endParaRPr lang="en-US" sz="1300" b="0" i="0" kern="1200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{{CORROSION_CLASS}}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431059"/>
                  </a:ext>
                </a:extLst>
              </a:tr>
              <a:tr h="320224"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Noise level / dB@1m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{{NOISE_DB}}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534007"/>
                  </a:ext>
                </a:extLst>
              </a:tr>
              <a:tr h="539325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00" b="0" i="0" kern="1200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Certification (Ongoing)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{{CERT_CONTAINER}}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570318"/>
                  </a:ext>
                </a:extLst>
              </a:tr>
            </a:tbl>
          </a:graphicData>
        </a:graphic>
      </p:graphicFrame>
      <p:sp>
        <p:nvSpPr>
          <p:cNvPr id="3" name="文本框 11">
            <a:extLst>
              <a:ext uri="{FF2B5EF4-FFF2-40B4-BE49-F238E27FC236}">
                <a16:creationId xmlns:a16="http://schemas.microsoft.com/office/drawing/2014/main" id="{E9BF4AD2-A9B1-4759-9B2C-F6D7E6198C0B}"/>
              </a:ext>
            </a:extLst>
          </p:cNvPr>
          <p:cNvSpPr txBox="1"/>
          <p:nvPr/>
        </p:nvSpPr>
        <p:spPr>
          <a:xfrm>
            <a:off x="381599" y="226800"/>
            <a:ext cx="5714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2 Project Proposal —20HC Container</a:t>
            </a:r>
          </a:p>
        </p:txBody>
      </p:sp>
      <p:pic>
        <p:nvPicPr>
          <p:cNvPr id="8" name="图片 7" descr="S5-0.5P 渲染图">
            <a:extLst>
              <a:ext uri="{FF2B5EF4-FFF2-40B4-BE49-F238E27FC236}">
                <a16:creationId xmlns:a16="http://schemas.microsoft.com/office/drawing/2014/main" id="{33F23998-15AC-4422-96E5-F06FEDC73D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5" t="4113" r="2511" b="1294"/>
          <a:stretch>
            <a:fillRect/>
          </a:stretch>
        </p:blipFill>
        <p:spPr>
          <a:xfrm>
            <a:off x="619760" y="1917700"/>
            <a:ext cx="4159526" cy="32842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3736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E9BF4AD2-A9B1-4759-9B2C-F6D7E6198C0B}"/>
              </a:ext>
            </a:extLst>
          </p:cNvPr>
          <p:cNvSpPr txBox="1"/>
          <p:nvPr/>
        </p:nvSpPr>
        <p:spPr>
          <a:xfrm>
            <a:off x="381599" y="226800"/>
            <a:ext cx="63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2 Project Proposal —System Layout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23B41CB-5393-4DB8-A634-DE2443F4A1ED}"/>
              </a:ext>
            </a:extLst>
          </p:cNvPr>
          <p:cNvGrpSpPr/>
          <p:nvPr/>
        </p:nvGrpSpPr>
        <p:grpSpPr>
          <a:xfrm>
            <a:off x="381599" y="800263"/>
            <a:ext cx="10702536" cy="5257474"/>
            <a:chOff x="264712" y="888901"/>
            <a:chExt cx="10702536" cy="5257474"/>
          </a:xfrm>
        </p:grpSpPr>
        <p:pic>
          <p:nvPicPr>
            <p:cNvPr id="38" name="图片 37" descr="S5-0.5P 渲染图">
              <a:extLst>
                <a:ext uri="{FF2B5EF4-FFF2-40B4-BE49-F238E27FC236}">
                  <a16:creationId xmlns:a16="http://schemas.microsoft.com/office/drawing/2014/main" id="{EC456EC6-106B-4B01-B989-317227B03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485" t="4113" r="2511" b="1294"/>
            <a:stretch>
              <a:fillRect/>
            </a:stretch>
          </p:blipFill>
          <p:spPr>
            <a:xfrm>
              <a:off x="3287656" y="1335084"/>
              <a:ext cx="5616687" cy="4434745"/>
            </a:xfrm>
            <a:prstGeom prst="rect">
              <a:avLst/>
            </a:prstGeom>
          </p:spPr>
        </p:pic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D5D7B78F-41DA-49F4-9EF0-1167332275A2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8590855" y="3908464"/>
              <a:ext cx="1165315" cy="0"/>
            </a:xfrm>
            <a:prstGeom prst="line">
              <a:avLst/>
            </a:prstGeom>
            <a:ln w="19050" cap="flat" cmpd="sng" algn="ctr">
              <a:solidFill>
                <a:srgbClr val="4081C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" name="文本框 7">
              <a:extLst>
                <a:ext uri="{FF2B5EF4-FFF2-40B4-BE49-F238E27FC236}">
                  <a16:creationId xmlns:a16="http://schemas.microsoft.com/office/drawing/2014/main" id="{87CBEE75-A9F2-4E8D-9301-32F42E2FD3E3}"/>
                </a:ext>
              </a:extLst>
            </p:cNvPr>
            <p:cNvSpPr txBox="1"/>
            <p:nvPr/>
          </p:nvSpPr>
          <p:spPr>
            <a:xfrm>
              <a:off x="9756170" y="3759736"/>
              <a:ext cx="1087895" cy="2974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Air inlet fan</a:t>
              </a:r>
            </a:p>
          </p:txBody>
        </p:sp>
        <p:sp>
          <p:nvSpPr>
            <p:cNvPr id="14" name="文本框 7">
              <a:extLst>
                <a:ext uri="{FF2B5EF4-FFF2-40B4-BE49-F238E27FC236}">
                  <a16:creationId xmlns:a16="http://schemas.microsoft.com/office/drawing/2014/main" id="{8FDA1A63-F70E-411C-AF74-C23D93CB114F}"/>
                </a:ext>
              </a:extLst>
            </p:cNvPr>
            <p:cNvSpPr txBox="1"/>
            <p:nvPr/>
          </p:nvSpPr>
          <p:spPr>
            <a:xfrm>
              <a:off x="4883674" y="888901"/>
              <a:ext cx="1482385" cy="2974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Exhaust fan</a:t>
              </a:r>
            </a:p>
          </p:txBody>
        </p:sp>
        <p:sp>
          <p:nvSpPr>
            <p:cNvPr id="15" name="文本框 35">
              <a:extLst>
                <a:ext uri="{FF2B5EF4-FFF2-40B4-BE49-F238E27FC236}">
                  <a16:creationId xmlns:a16="http://schemas.microsoft.com/office/drawing/2014/main" id="{7E9131E3-F8FB-4039-ABBF-E7AED2496057}"/>
                </a:ext>
              </a:extLst>
            </p:cNvPr>
            <p:cNvSpPr txBox="1"/>
            <p:nvPr/>
          </p:nvSpPr>
          <p:spPr>
            <a:xfrm>
              <a:off x="6081335" y="888902"/>
              <a:ext cx="2225525" cy="297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Explosion venting panel</a:t>
              </a:r>
              <a:r>
                <a:rPr kumimoji="0" lang="zh-CN" alt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*</a:t>
              </a: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1813A54E-C99E-49E4-A818-D0A6FE41BFFB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7194098" y="1186356"/>
              <a:ext cx="0" cy="745450"/>
            </a:xfrm>
            <a:prstGeom prst="line">
              <a:avLst/>
            </a:prstGeom>
            <a:ln w="19050" cap="flat" cmpd="sng" algn="ctr">
              <a:solidFill>
                <a:srgbClr val="4081C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文本框 7">
              <a:extLst>
                <a:ext uri="{FF2B5EF4-FFF2-40B4-BE49-F238E27FC236}">
                  <a16:creationId xmlns:a16="http://schemas.microsoft.com/office/drawing/2014/main" id="{26F45472-B974-4BE1-B7EC-B00DE34892F0}"/>
                </a:ext>
              </a:extLst>
            </p:cNvPr>
            <p:cNvSpPr txBox="1"/>
            <p:nvPr/>
          </p:nvSpPr>
          <p:spPr>
            <a:xfrm>
              <a:off x="1364853" y="5643802"/>
              <a:ext cx="1773045" cy="502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DN65 FSS interface for water spray</a:t>
              </a:r>
            </a:p>
          </p:txBody>
        </p:sp>
        <p:sp>
          <p:nvSpPr>
            <p:cNvPr id="18" name="文本框 7">
              <a:extLst>
                <a:ext uri="{FF2B5EF4-FFF2-40B4-BE49-F238E27FC236}">
                  <a16:creationId xmlns:a16="http://schemas.microsoft.com/office/drawing/2014/main" id="{B55F506E-5A9F-4ED0-82FB-EF06B428180E}"/>
                </a:ext>
              </a:extLst>
            </p:cNvPr>
            <p:cNvSpPr txBox="1"/>
            <p:nvPr/>
          </p:nvSpPr>
          <p:spPr>
            <a:xfrm>
              <a:off x="6743582" y="5276810"/>
              <a:ext cx="2294276" cy="2974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 algn="ctr">
                <a:defRPr sz="100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defRPr>
              </a:lvl1pPr>
              <a:lvl2pPr indent="0">
                <a:defRPr sz="1100"/>
              </a:lvl2pPr>
              <a:lvl3pPr indent="0">
                <a:defRPr sz="1100"/>
              </a:lvl3pPr>
              <a:lvl4pPr indent="0">
                <a:defRPr sz="1100"/>
              </a:lvl4pPr>
              <a:lvl5pPr indent="0">
                <a:defRPr sz="1100"/>
              </a:lvl5pPr>
              <a:lvl6pPr indent="0">
                <a:defRPr sz="1100"/>
              </a:lvl6pPr>
              <a:lvl7pPr indent="0">
                <a:defRPr sz="1100"/>
              </a:lvl7pPr>
              <a:lvl8pPr indent="0">
                <a:defRPr sz="1100"/>
              </a:lvl8pPr>
              <a:lvl9pPr indent="0">
                <a:defRPr sz="1100"/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Battery compartment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54ED1505-1F71-4FCA-A455-5DBC1D7D2000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V="1">
              <a:off x="7890720" y="4166157"/>
              <a:ext cx="0" cy="1110653"/>
            </a:xfrm>
            <a:prstGeom prst="line">
              <a:avLst/>
            </a:prstGeom>
            <a:ln w="19050" cap="flat" cmpd="sng" algn="ctr">
              <a:solidFill>
                <a:srgbClr val="4081C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文本框 9">
              <a:extLst>
                <a:ext uri="{FF2B5EF4-FFF2-40B4-BE49-F238E27FC236}">
                  <a16:creationId xmlns:a16="http://schemas.microsoft.com/office/drawing/2014/main" id="{D15E33AC-D59E-4E79-8B7E-EFB7134D3D46}"/>
                </a:ext>
              </a:extLst>
            </p:cNvPr>
            <p:cNvSpPr txBox="1"/>
            <p:nvPr/>
          </p:nvSpPr>
          <p:spPr>
            <a:xfrm>
              <a:off x="3716959" y="5848921"/>
              <a:ext cx="3026623" cy="297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 algn="ctr">
                <a:defRPr sz="100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defRPr>
              </a:lvl1pPr>
              <a:lvl2pPr indent="0">
                <a:defRPr sz="1100"/>
              </a:lvl2pPr>
              <a:lvl3pPr indent="0">
                <a:defRPr sz="1100"/>
              </a:lvl3pPr>
              <a:lvl4pPr indent="0">
                <a:defRPr sz="1100"/>
              </a:lvl4pPr>
              <a:lvl5pPr indent="0">
                <a:defRPr sz="1100"/>
              </a:lvl5pPr>
              <a:lvl6pPr indent="0">
                <a:defRPr sz="1100"/>
              </a:lvl6pPr>
              <a:lvl7pPr indent="0">
                <a:defRPr sz="1100"/>
              </a:lvl7pPr>
              <a:lvl8pPr indent="0">
                <a:defRPr sz="1100"/>
              </a:lvl8pPr>
              <a:lvl9pPr indent="0">
                <a:defRPr sz="1100"/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Emergency stop /Agent release </a:t>
              </a:r>
              <a:endPara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Light" panose="020B0300000000000000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DEBC43F-01EC-4875-B8D5-B9A2EBBEF05B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5230271" y="4734560"/>
              <a:ext cx="0" cy="1114361"/>
            </a:xfrm>
            <a:prstGeom prst="line">
              <a:avLst/>
            </a:prstGeom>
            <a:ln w="19050" cap="flat" cmpd="sng" algn="ctr">
              <a:solidFill>
                <a:srgbClr val="4081C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2" name="文本框 7">
              <a:extLst>
                <a:ext uri="{FF2B5EF4-FFF2-40B4-BE49-F238E27FC236}">
                  <a16:creationId xmlns:a16="http://schemas.microsoft.com/office/drawing/2014/main" id="{A24896B4-5B1B-4560-B175-337AA6E68110}"/>
                </a:ext>
              </a:extLst>
            </p:cNvPr>
            <p:cNvSpPr txBox="1"/>
            <p:nvPr/>
          </p:nvSpPr>
          <p:spPr>
            <a:xfrm>
              <a:off x="264712" y="4106479"/>
              <a:ext cx="2740695" cy="502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 algn="ctr">
                <a:defRPr sz="100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defRPr>
              </a:lvl1pPr>
              <a:lvl2pPr indent="0">
                <a:defRPr sz="1100"/>
              </a:lvl2pPr>
              <a:lvl3pPr indent="0">
                <a:defRPr sz="1100"/>
              </a:lvl3pPr>
              <a:lvl4pPr indent="0">
                <a:defRPr sz="1100"/>
              </a:lvl4pPr>
              <a:lvl5pPr indent="0">
                <a:defRPr sz="1100"/>
              </a:lvl5pPr>
              <a:lvl6pPr indent="0">
                <a:defRPr sz="1100"/>
              </a:lvl6pPr>
              <a:lvl7pPr indent="0">
                <a:defRPr sz="1100"/>
              </a:lvl7pPr>
              <a:lvl8pPr indent="0">
                <a:defRPr sz="1100"/>
              </a:lvl8pPr>
              <a:lvl9pPr indent="0">
                <a:defRPr sz="1100"/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DC combiner cabinet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(integrated power distribution unit)</a:t>
              </a: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FDB10060-6503-4434-89AD-925E2B2DE792}"/>
                </a:ext>
              </a:extLst>
            </p:cNvPr>
            <p:cNvCxnSpPr>
              <a:cxnSpLocks/>
              <a:endCxn id="22" idx="3"/>
            </p:cNvCxnSpPr>
            <p:nvPr/>
          </p:nvCxnSpPr>
          <p:spPr>
            <a:xfrm flipH="1">
              <a:off x="3005407" y="4357766"/>
              <a:ext cx="711552" cy="0"/>
            </a:xfrm>
            <a:prstGeom prst="line">
              <a:avLst/>
            </a:prstGeom>
            <a:ln w="19050" cap="flat" cmpd="sng" algn="ctr">
              <a:solidFill>
                <a:srgbClr val="4081C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9" name="文本框 7">
              <a:extLst>
                <a:ext uri="{FF2B5EF4-FFF2-40B4-BE49-F238E27FC236}">
                  <a16:creationId xmlns:a16="http://schemas.microsoft.com/office/drawing/2014/main" id="{5609F17C-C86E-4C09-9445-47EDF33EE9F2}"/>
                </a:ext>
              </a:extLst>
            </p:cNvPr>
            <p:cNvSpPr txBox="1"/>
            <p:nvPr/>
          </p:nvSpPr>
          <p:spPr>
            <a:xfrm>
              <a:off x="1843266" y="3339045"/>
              <a:ext cx="1162141" cy="297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 algn="ctr">
                <a:defRPr sz="100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defRPr>
              </a:lvl1pPr>
              <a:lvl2pPr indent="0">
                <a:defRPr sz="1100"/>
              </a:lvl2pPr>
              <a:lvl3pPr indent="0">
                <a:defRPr sz="1100"/>
              </a:lvl3pPr>
              <a:lvl4pPr indent="0">
                <a:defRPr sz="1100"/>
              </a:lvl4pPr>
              <a:lvl5pPr indent="0">
                <a:defRPr sz="1100"/>
              </a:lvl5pPr>
              <a:lvl6pPr indent="0">
                <a:defRPr sz="1100"/>
              </a:lvl6pPr>
              <a:lvl7pPr indent="0">
                <a:defRPr sz="1100"/>
              </a:lvl7pPr>
              <a:lvl8pPr indent="0">
                <a:defRPr sz="1100"/>
              </a:lvl8pPr>
              <a:lvl9pPr indent="0">
                <a:defRPr sz="1100"/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Liquid chiller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401004E-975A-45DC-AD6F-51B76EFA1FFA}"/>
                </a:ext>
              </a:extLst>
            </p:cNvPr>
            <p:cNvCxnSpPr>
              <a:cxnSpLocks/>
              <a:endCxn id="29" idx="3"/>
            </p:cNvCxnSpPr>
            <p:nvPr/>
          </p:nvCxnSpPr>
          <p:spPr>
            <a:xfrm flipH="1">
              <a:off x="3005407" y="3487772"/>
              <a:ext cx="711552" cy="0"/>
            </a:xfrm>
            <a:prstGeom prst="line">
              <a:avLst/>
            </a:prstGeom>
            <a:ln w="19050" cap="flat" cmpd="sng" algn="ctr">
              <a:solidFill>
                <a:srgbClr val="4081C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EA97A80-6B66-4C95-9A6D-5246EA6B120C}"/>
                </a:ext>
              </a:extLst>
            </p:cNvPr>
            <p:cNvSpPr/>
            <p:nvPr/>
          </p:nvSpPr>
          <p:spPr>
            <a:xfrm>
              <a:off x="9756170" y="2218490"/>
              <a:ext cx="1211078" cy="5025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  <a:sym typeface="思源黑体 CN Normal" panose="020B0400000000000000" pitchFamily="34" charset="-122"/>
                </a:rPr>
                <a:t>Horn/strobes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  <a:sym typeface="思源黑体 CN Normal" panose="020B0400000000000000" pitchFamily="34" charset="-122"/>
                </a:rPr>
                <a:t>Bell</a:t>
              </a: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336B59A0-FAF7-4C88-835F-92896BD7A6CD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flipH="1">
              <a:off x="8590855" y="2469777"/>
              <a:ext cx="1165315" cy="0"/>
            </a:xfrm>
            <a:prstGeom prst="line">
              <a:avLst/>
            </a:prstGeom>
            <a:ln w="19050" cap="flat" cmpd="sng" algn="ctr">
              <a:solidFill>
                <a:srgbClr val="4081C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46A34E0-1BBE-44AF-B05D-60D8A68842D3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5624867" y="1186356"/>
              <a:ext cx="0" cy="2330410"/>
            </a:xfrm>
            <a:prstGeom prst="line">
              <a:avLst/>
            </a:prstGeom>
            <a:ln w="19050" cap="flat" cmpd="sng" algn="ctr">
              <a:solidFill>
                <a:srgbClr val="4081C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5" name="文本框 7">
              <a:extLst>
                <a:ext uri="{FF2B5EF4-FFF2-40B4-BE49-F238E27FC236}">
                  <a16:creationId xmlns:a16="http://schemas.microsoft.com/office/drawing/2014/main" id="{6DFB67AF-F398-489E-B870-0C134BB68B3E}"/>
                </a:ext>
              </a:extLst>
            </p:cNvPr>
            <p:cNvSpPr txBox="1"/>
            <p:nvPr/>
          </p:nvSpPr>
          <p:spPr>
            <a:xfrm>
              <a:off x="1843266" y="4820034"/>
              <a:ext cx="1162141" cy="297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indent="0" algn="ctr">
                <a:defRPr sz="1000">
                  <a:solidFill>
                    <a:schemeClr val="bg1"/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defRPr>
              </a:lvl1pPr>
              <a:lvl2pPr indent="0">
                <a:defRPr sz="1100"/>
              </a:lvl2pPr>
              <a:lvl3pPr indent="0">
                <a:defRPr sz="1100"/>
              </a:lvl3pPr>
              <a:lvl4pPr indent="0">
                <a:defRPr sz="1100"/>
              </a:lvl4pPr>
              <a:lvl5pPr indent="0">
                <a:defRPr sz="1100"/>
              </a:lvl5pPr>
              <a:lvl6pPr indent="0">
                <a:defRPr sz="1100"/>
              </a:lvl6pPr>
              <a:lvl7pPr indent="0">
                <a:defRPr sz="1100"/>
              </a:lvl7pPr>
              <a:lvl8pPr indent="0">
                <a:defRPr sz="1100"/>
              </a:lvl8pPr>
              <a:lvl9pPr indent="0">
                <a:defRPr sz="1100"/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思源黑体 CN Light" panose="020B0300000000000000" pitchFamily="34" charset="-122"/>
                  <a:cs typeface="Times New Roman" panose="02020603050405020304" pitchFamily="18" charset="0"/>
                </a:rPr>
                <a:t>FSS</a:t>
              </a: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B3C8FB7A-8226-4281-B802-F27C483E1844}"/>
                </a:ext>
              </a:extLst>
            </p:cNvPr>
            <p:cNvCxnSpPr>
              <a:cxnSpLocks/>
              <a:stCxn id="55" idx="3"/>
            </p:cNvCxnSpPr>
            <p:nvPr/>
          </p:nvCxnSpPr>
          <p:spPr>
            <a:xfrm>
              <a:off x="3005407" y="4968761"/>
              <a:ext cx="1591499" cy="0"/>
            </a:xfrm>
            <a:prstGeom prst="line">
              <a:avLst/>
            </a:prstGeom>
            <a:ln w="19050" cap="flat" cmpd="sng" algn="ctr">
              <a:solidFill>
                <a:srgbClr val="4081C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" name="连接符: 肘形 3">
              <a:extLst>
                <a:ext uri="{FF2B5EF4-FFF2-40B4-BE49-F238E27FC236}">
                  <a16:creationId xmlns:a16="http://schemas.microsoft.com/office/drawing/2014/main" id="{C87C084F-345C-4868-9664-80EEE623A942}"/>
                </a:ext>
              </a:extLst>
            </p:cNvPr>
            <p:cNvCxnSpPr>
              <a:stCxn id="17" idx="3"/>
            </p:cNvCxnSpPr>
            <p:nvPr/>
          </p:nvCxnSpPr>
          <p:spPr>
            <a:xfrm flipV="1">
              <a:off x="3137898" y="5374640"/>
              <a:ext cx="1322342" cy="520449"/>
            </a:xfrm>
            <a:prstGeom prst="bentConnector3">
              <a:avLst/>
            </a:prstGeom>
            <a:ln w="19050" cap="flat" cmpd="sng" algn="ctr">
              <a:solidFill>
                <a:srgbClr val="4081CF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7691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E9BF4AD2-A9B1-4759-9B2C-F6D7E6198C0B}"/>
              </a:ext>
            </a:extLst>
          </p:cNvPr>
          <p:cNvSpPr txBox="1"/>
          <p:nvPr/>
        </p:nvSpPr>
        <p:spPr>
          <a:xfrm>
            <a:off x="381599" y="226800"/>
            <a:ext cx="63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2 Project Proposal —Certification Plan</a:t>
            </a: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A792CDB-2F41-4F07-A828-26679ED07D9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81599" y="1047733"/>
          <a:ext cx="9440297" cy="4977272"/>
        </p:xfrm>
        <a:graphic>
          <a:graphicData uri="http://schemas.openxmlformats.org/drawingml/2006/table">
            <a:tbl>
              <a:tblPr/>
              <a:tblGrid>
                <a:gridCol w="606464">
                  <a:extLst>
                    <a:ext uri="{9D8B030D-6E8A-4147-A177-3AD203B41FA5}">
                      <a16:colId xmlns:a16="http://schemas.microsoft.com/office/drawing/2014/main" val="4194968658"/>
                    </a:ext>
                  </a:extLst>
                </a:gridCol>
                <a:gridCol w="3740520">
                  <a:extLst>
                    <a:ext uri="{9D8B030D-6E8A-4147-A177-3AD203B41FA5}">
                      <a16:colId xmlns:a16="http://schemas.microsoft.com/office/drawing/2014/main" val="2958492307"/>
                    </a:ext>
                  </a:extLst>
                </a:gridCol>
                <a:gridCol w="5093313">
                  <a:extLst>
                    <a:ext uri="{9D8B030D-6E8A-4147-A177-3AD203B41FA5}">
                      <a16:colId xmlns:a16="http://schemas.microsoft.com/office/drawing/2014/main" val="2063526230"/>
                    </a:ext>
                  </a:extLst>
                </a:gridCol>
              </a:tblGrid>
              <a:tr h="328037">
                <a:tc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No.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Level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Standard (Plan)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792391"/>
                  </a:ext>
                </a:extLst>
              </a:tr>
              <a:tr h="309949">
                <a:tc rowSpan="7"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1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Liquid cooling cell  {{CELL_MODEL}}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{{CERT_STD_01}}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803176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>
                          <a:latin typeface="Times New Roman"/>
                        </a:rPr>
                        <a:t>{{CERT_STD_02}}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129600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{{CERT_STD_03}}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137104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pPr algn="ctr" fontAlgn="ctr" latinLnBrk="0"/>
                    </a:p>
                  </a:txBody>
                  <a:tcPr marL="63040" marR="63040" marT="31520" marB="315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 latinLnBrk="0"/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{{CERT_STD_04}}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159206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{{CERT_STD_05}}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700589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{{CERT_STD_06}}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504917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{{CERT_STD_07}}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564496"/>
                  </a:ext>
                </a:extLst>
              </a:tr>
              <a:tr h="309949"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Liquid cooling pack {{PACK_MODEL}}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{{CERT_STD_08}}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056664"/>
                  </a:ext>
                </a:extLst>
              </a:tr>
              <a:tr h="309949"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Liquid cooling cluster {{CLUSTER_MODEL}}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>
                          <a:latin typeface="Times New Roman"/>
                        </a:rPr>
                        <a:t>{{CERT_CLUSTER_NOTE}}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291260"/>
                  </a:ext>
                </a:extLst>
              </a:tr>
              <a:tr h="309949">
                <a:tc rowSpan="8"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4</a:t>
                      </a:r>
                    </a:p>
                  </a:txBody>
                  <a:tcPr marL="63040" marR="63040" marT="31520" marB="315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Liquid cooling container *  {{SYS_MODEL}} ({{RATE}})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>
                          <a:latin typeface="Times New Roman"/>
                        </a:rPr>
                        <a:t>{{CERT_STD_09}}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162928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pPr algn="ctr" fontAlgn="ctr" latinLnBrk="0"/>
                      <a:endParaRPr lang="en-US" altLang="zh-C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40" marR="63040" marT="31520" marB="315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 latinLnBrk="0"/>
                      <a:endParaRPr lang="en-US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>
                          <a:latin typeface="Times New Roman"/>
                        </a:rPr>
                        <a:t>{{CERT_STD_10}}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187956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pPr algn="ctr" fontAlgn="ctr" latinLnBrk="0"/>
                      <a:endParaRPr lang="en-US" altLang="zh-C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40" marR="63040" marT="31520" marB="315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 latinLnBrk="0"/>
                      <a:endParaRPr lang="en-US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>
                          <a:latin typeface="Times New Roman"/>
                        </a:rPr>
                        <a:t>{{CERT_STD_11}}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412595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pPr algn="ctr" fontAlgn="ctr" latinLnBrk="0"/>
                      <a:endParaRPr lang="en-US" altLang="zh-C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40" marR="63040" marT="31520" marB="315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 latinLnBrk="0"/>
                      <a:endParaRPr lang="en-US" altLang="zh-C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>
                          <a:latin typeface="Times New Roman"/>
                        </a:rPr>
                        <a:t>{{CERT_STD_12}}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442571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pPr algn="ctr" fontAlgn="ctr" latinLnBrk="0"/>
                      <a:endParaRPr lang="en-US" altLang="zh-C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40" marR="63040" marT="31520" marB="315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 latinLnBrk="0"/>
                      <a:endParaRPr lang="en-US" altLang="zh-C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>
                          <a:latin typeface="Times New Roman"/>
                        </a:rPr>
                        <a:t>{{CERT_STD_13}}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018383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pPr algn="ctr" fontAlgn="ctr" latinLnBrk="0"/>
                      <a:endParaRPr lang="en-US" altLang="zh-C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40" marR="63040" marT="31520" marB="3152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 latinLnBrk="0"/>
                      <a:endParaRPr lang="en-US" altLang="zh-CN" sz="13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>
                          <a:latin typeface="Times New Roman"/>
                        </a:rPr>
                        <a:t>{{CERT_STD_14}}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815915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pPr algn="ctr" fontAlgn="ctr" latinLnBrk="0"/>
                    </a:p>
                  </a:txBody>
                  <a:tcPr marL="63040" marR="63040" marT="31520" marB="315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 latinLnBrk="0"/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{{CERT_STD_15}}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803176"/>
                  </a:ext>
                </a:extLst>
              </a:tr>
              <a:tr h="309949">
                <a:tc vMerge="1">
                  <a:txBody>
                    <a:bodyPr/>
                    <a:lstStyle/>
                    <a:p>
                      <a:pPr algn="ctr" fontAlgn="ctr" latinLnBrk="0"/>
                    </a:p>
                  </a:txBody>
                  <a:tcPr marL="63040" marR="63040" marT="31520" marB="315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 latinLnBrk="0"/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sz="1300">
                          <a:latin typeface="Times New Roman"/>
                        </a:rPr>
                        <a:t>{{CERT_STD_16}}</a:t>
                      </a:r>
                    </a:p>
                  </a:txBody>
                  <a:tcPr marL="63040" marR="63040" marT="31520" marB="315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803176"/>
                  </a:ext>
                </a:extLst>
              </a:tr>
            </a:tbl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718A2B66-2935-4B3D-AAB1-9C66D4BA2531}"/>
              </a:ext>
            </a:extLst>
          </p:cNvPr>
          <p:cNvGrpSpPr/>
          <p:nvPr/>
        </p:nvGrpSpPr>
        <p:grpSpPr>
          <a:xfrm>
            <a:off x="10341766" y="1047733"/>
            <a:ext cx="1142996" cy="4977279"/>
            <a:chOff x="10341766" y="1047733"/>
            <a:chExt cx="1142996" cy="4977279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6DE6CC8F-C2F5-462F-8416-4BE18CCB4645}"/>
                </a:ext>
              </a:extLst>
            </p:cNvPr>
            <p:cNvSpPr/>
            <p:nvPr/>
          </p:nvSpPr>
          <p:spPr>
            <a:xfrm>
              <a:off x="10341766" y="1047733"/>
              <a:ext cx="1142996" cy="4977279"/>
            </a:xfrm>
            <a:prstGeom prst="roundRect">
              <a:avLst>
                <a:gd name="adj" fmla="val 1983"/>
              </a:avLst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3175" cap="flat" cmpd="sng" algn="ctr">
              <a:solidFill>
                <a:srgbClr val="004EA2">
                  <a:alpha val="93000"/>
                </a:srgbClr>
              </a:solidFill>
              <a:prstDash val="solid"/>
              <a:miter lim="800000"/>
            </a:ln>
            <a:effectLst>
              <a:outerShdw blurRad="203200" dist="139700" dir="5400000" algn="t" rotWithShape="0">
                <a:srgbClr val="004EA2">
                  <a:alpha val="14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33CB2D0D-3EC6-4455-A2EA-8F4AA973012B}"/>
                </a:ext>
              </a:extLst>
            </p:cNvPr>
            <p:cNvGrpSpPr/>
            <p:nvPr/>
          </p:nvGrpSpPr>
          <p:grpSpPr>
            <a:xfrm>
              <a:off x="10622187" y="1456955"/>
              <a:ext cx="582154" cy="4158834"/>
              <a:chOff x="10625264" y="1219979"/>
              <a:chExt cx="582154" cy="4158834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DCABE434-34DC-4AB0-86C2-A7AA2F3320F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631418" y="1219979"/>
                <a:ext cx="576000" cy="601146"/>
                <a:chOff x="4397" y="2136"/>
                <a:chExt cx="1474" cy="1474"/>
              </a:xfrm>
            </p:grpSpPr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51BE1BF6-4A7A-4345-A93C-B82587AEEAAF}"/>
                    </a:ext>
                  </a:extLst>
                </p:cNvPr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4397" y="2136"/>
                  <a:ext cx="1475" cy="1475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Regular" panose="020B0500000000000000" pitchFamily="34" charset="-122"/>
                    <a:cs typeface="Times New Roman" panose="02020603050405020304" pitchFamily="18" charset="0"/>
                    <a:sym typeface="思源黑体 CN Normal" panose="020B0400000000000000" pitchFamily="34" charset="-122"/>
                  </a:endParaRPr>
                </a:p>
              </p:txBody>
            </p:sp>
            <p:pic>
              <p:nvPicPr>
                <p:cNvPr id="51" name="图片 50">
                  <a:extLst>
                    <a:ext uri="{FF2B5EF4-FFF2-40B4-BE49-F238E27FC236}">
                      <a16:creationId xmlns:a16="http://schemas.microsoft.com/office/drawing/2014/main" id="{4A5BA3F7-EB70-4FBD-A3FB-48F4973C722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0"/>
                  </p:custDataLst>
                </p:nvPr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33" y="2400"/>
                  <a:ext cx="992" cy="936"/>
                </a:xfrm>
                <a:prstGeom prst="ellipse">
                  <a:avLst/>
                </a:prstGeom>
                <a:ln>
                  <a:noFill/>
                </a:ln>
              </p:spPr>
            </p:pic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53605D62-0075-4430-93F5-CF5F7246910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631418" y="2109401"/>
                <a:ext cx="576000" cy="601146"/>
                <a:chOff x="2524" y="2160"/>
                <a:chExt cx="1474" cy="1474"/>
              </a:xfrm>
            </p:grpSpPr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48BFBB05-9DF1-4507-99CB-391309BB9981}"/>
                    </a:ext>
                  </a:extLst>
                </p:cNvPr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2524" y="2160"/>
                  <a:ext cx="1475" cy="1475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Regular" panose="020B0500000000000000" pitchFamily="34" charset="-122"/>
                    <a:cs typeface="Times New Roman" panose="02020603050405020304" pitchFamily="18" charset="0"/>
                    <a:sym typeface="思源黑体 CN Normal" panose="020B0400000000000000" pitchFamily="34" charset="-122"/>
                  </a:endParaRPr>
                </a:p>
              </p:txBody>
            </p:sp>
            <p:pic>
              <p:nvPicPr>
                <p:cNvPr id="49" name="图片 48">
                  <a:extLst>
                    <a:ext uri="{FF2B5EF4-FFF2-40B4-BE49-F238E27FC236}">
                      <a16:creationId xmlns:a16="http://schemas.microsoft.com/office/drawing/2014/main" id="{3CF74EB2-D2A4-457E-B9DF-3244B535C0B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7" y="2504"/>
                  <a:ext cx="825" cy="784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962C3EBA-3889-41EA-9687-39B78879227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625264" y="3890279"/>
                <a:ext cx="576000" cy="601146"/>
                <a:chOff x="632" y="2160"/>
                <a:chExt cx="1474" cy="1474"/>
              </a:xfrm>
            </p:grpSpPr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2E3536A8-556A-4C2B-8214-97AC519ACE94}"/>
                    </a:ext>
                  </a:extLst>
                </p:cNvPr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632" y="2160"/>
                  <a:ext cx="1475" cy="1475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Regular" panose="020B0500000000000000" pitchFamily="34" charset="-122"/>
                    <a:cs typeface="Times New Roman" panose="02020603050405020304" pitchFamily="18" charset="0"/>
                    <a:sym typeface="思源黑体 CN Normal" panose="020B0400000000000000" pitchFamily="34" charset="-122"/>
                  </a:endParaRPr>
                </a:p>
              </p:txBody>
            </p:sp>
            <p:pic>
              <p:nvPicPr>
                <p:cNvPr id="47" name="Picture 4" descr="https://gimg2.baidu.com/image_search/src=http%3A%2F%2Ftctlabcn.com%2Fuploads%2Fallimg%2F191224%2F1-191224003542.jpg&amp;refer=http%3A%2F%2Ftctlabcn.com&amp;app=2002&amp;size=f9999,10000&amp;q=a80&amp;n=0&amp;g=0n&amp;fmt=auto?sec=1664430647&amp;t=d9c18185fcb4e196f9d9ddf03c63fc24">
                  <a:extLst>
                    <a:ext uri="{FF2B5EF4-FFF2-40B4-BE49-F238E27FC236}">
                      <a16:creationId xmlns:a16="http://schemas.microsoft.com/office/drawing/2014/main" id="{66513854-0E7B-4629-8348-6B8404A5FAE7}"/>
                    </a:ext>
                  </a:extLst>
                </p:cNvPr>
                <p:cNvPicPr>
                  <a:picLocks noChangeAspect="1" noChangeArrowheads="1"/>
                </p:cNvPicPr>
                <p:nvPr>
                  <p:custDataLst>
                    <p:tags r:id="rId6"/>
                  </p:custDataLst>
                </p:nvPr>
              </p:nvPicPr>
              <p:blipFill rotWithShape="1">
                <a:blip r:embed="rId14"/>
                <a:srcRect l="10425" t="24959" r="15371" b="22573"/>
                <a:stretch>
                  <a:fillRect/>
                </a:stretch>
              </p:blipFill>
              <p:spPr bwMode="auto">
                <a:xfrm>
                  <a:off x="696" y="2570"/>
                  <a:ext cx="1279" cy="6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4F54BB14-E03D-4F95-B691-59B7C8CB08A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625655" y="4777667"/>
                <a:ext cx="576000" cy="601146"/>
                <a:chOff x="11956" y="2144"/>
                <a:chExt cx="1474" cy="1474"/>
              </a:xfrm>
            </p:grpSpPr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6DC6541A-6717-4953-A147-8A7C1612EA1B}"/>
                    </a:ext>
                  </a:extLst>
                </p:cNvPr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1956" y="2144"/>
                  <a:ext cx="1475" cy="1475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Regular" panose="020B0500000000000000" pitchFamily="34" charset="-122"/>
                    <a:cs typeface="Times New Roman" panose="02020603050405020304" pitchFamily="18" charset="0"/>
                    <a:sym typeface="思源黑体 CN Normal" panose="020B0400000000000000" pitchFamily="34" charset="-122"/>
                  </a:endParaRPr>
                </a:p>
              </p:txBody>
            </p:sp>
            <p:pic>
              <p:nvPicPr>
                <p:cNvPr id="45" name="图片 44">
                  <a:extLst>
                    <a:ext uri="{FF2B5EF4-FFF2-40B4-BE49-F238E27FC236}">
                      <a16:creationId xmlns:a16="http://schemas.microsoft.com/office/drawing/2014/main" id="{349C894A-5F6D-43EA-8363-5ED183F226D6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"/>
                  </p:custDataLst>
                </p:nvPr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191" y="2546"/>
                  <a:ext cx="1037" cy="693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49E8EAD-27B4-497F-9651-95B27074D1E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629464" y="2998823"/>
                <a:ext cx="576000" cy="601146"/>
                <a:chOff x="6286" y="2128"/>
                <a:chExt cx="1474" cy="1474"/>
              </a:xfrm>
            </p:grpSpPr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AB03F5E9-3B40-419C-99F6-870B2E534A1C}"/>
                    </a:ext>
                  </a:extLst>
                </p:cNvPr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6286" y="2128"/>
                  <a:ext cx="1475" cy="1475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CN Regular" panose="020B0500000000000000" pitchFamily="34" charset="-122"/>
                    <a:cs typeface="Times New Roman" panose="02020603050405020304" pitchFamily="18" charset="0"/>
                    <a:sym typeface="思源黑体 CN Normal" panose="020B0400000000000000" pitchFamily="34" charset="-122"/>
                  </a:endParaRPr>
                </a:p>
              </p:txBody>
            </p:sp>
            <p:pic>
              <p:nvPicPr>
                <p:cNvPr id="43" name="Picture 6" descr="https://gimg2.baidu.com/image_search/src=http%3A%2F%2Fspider.ws.126.net%2F28585cad7dee53f6a4284de3f6b75ff1.jpeg&amp;refer=http%3A%2F%2Fspider.ws.126.net&amp;app=2002&amp;size=f9999,10000&amp;q=a80&amp;n=0&amp;g=0n&amp;fmt=auto?sec=1664430751&amp;t=05de6be52a629c9c585e6f56db115bc6">
                  <a:extLst>
                    <a:ext uri="{FF2B5EF4-FFF2-40B4-BE49-F238E27FC236}">
                      <a16:creationId xmlns:a16="http://schemas.microsoft.com/office/drawing/2014/main" id="{FE23F4D0-07E4-445D-832D-92CDDC347B42}"/>
                    </a:ext>
                  </a:extLst>
                </p:cNvPr>
                <p:cNvPicPr>
                  <a:picLocks noChangeAspect="1" noChangeArrowheads="1"/>
                </p:cNvPicPr>
                <p:nvPr>
                  <p:custDataLst>
                    <p:tags r:id="rId2"/>
                  </p:custDataLst>
                </p:nvPr>
              </p:nvPicPr>
              <p:blipFill rotWithShape="1">
                <a:blip r:embed="rId16"/>
                <a:srcRect l="18452" t="52085" r="55595" b="35608"/>
                <a:stretch>
                  <a:fillRect/>
                </a:stretch>
              </p:blipFill>
              <p:spPr bwMode="auto">
                <a:xfrm>
                  <a:off x="6431" y="2530"/>
                  <a:ext cx="1230" cy="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7252E028-AA2A-418E-BDFD-7495AAB7F607}"/>
              </a:ext>
            </a:extLst>
          </p:cNvPr>
          <p:cNvSpPr txBox="1"/>
          <p:nvPr/>
        </p:nvSpPr>
        <p:spPr>
          <a:xfrm>
            <a:off x="5867575" y="6043444"/>
            <a:ext cx="4051194" cy="363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300">
                <a:latin typeface="Times New Roman"/>
              </a:rPr>
              <a:t>{{CERT_FOOTNOTE}}</a:t>
            </a:r>
            <a:endParaRPr kumimoji="0" lang="zh-CN" altLang="en-US" sz="133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277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E9BF4AD2-A9B1-4759-9B2C-F6D7E6198C0B}"/>
              </a:ext>
            </a:extLst>
          </p:cNvPr>
          <p:cNvSpPr txBox="1"/>
          <p:nvPr/>
        </p:nvSpPr>
        <p:spPr>
          <a:xfrm>
            <a:off x="381599" y="226800"/>
            <a:ext cx="4932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3 Project Delivery Scope ---DC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663C858-1394-46A9-B2A9-1857B9C31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559086"/>
              </p:ext>
            </p:extLst>
          </p:nvPr>
        </p:nvGraphicFramePr>
        <p:xfrm>
          <a:off x="381598" y="883630"/>
          <a:ext cx="11257026" cy="4549503"/>
        </p:xfrm>
        <a:graphic>
          <a:graphicData uri="http://schemas.openxmlformats.org/drawingml/2006/table">
            <a:tbl>
              <a:tblPr firstRow="1"/>
              <a:tblGrid>
                <a:gridCol w="527116">
                  <a:extLst>
                    <a:ext uri="{9D8B030D-6E8A-4147-A177-3AD203B41FA5}">
                      <a16:colId xmlns:a16="http://schemas.microsoft.com/office/drawing/2014/main" val="2147090320"/>
                    </a:ext>
                  </a:extLst>
                </a:gridCol>
                <a:gridCol w="2207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9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2642">
                  <a:extLst>
                    <a:ext uri="{9D8B030D-6E8A-4147-A177-3AD203B41FA5}">
                      <a16:colId xmlns:a16="http://schemas.microsoft.com/office/drawing/2014/main" val="4235722413"/>
                    </a:ext>
                  </a:extLst>
                </a:gridCol>
                <a:gridCol w="1840234">
                  <a:extLst>
                    <a:ext uri="{9D8B030D-6E8A-4147-A177-3AD203B41FA5}">
                      <a16:colId xmlns:a16="http://schemas.microsoft.com/office/drawing/2014/main" val="4097567416"/>
                    </a:ext>
                  </a:extLst>
                </a:gridCol>
              </a:tblGrid>
              <a:tr h="646919"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 marL="6441" marR="6441" marT="6441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Item</a:t>
                      </a:r>
                    </a:p>
                  </a:txBody>
                  <a:tcPr marL="6441" marR="6441" marT="6441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Qty. per BESS Unit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Total Qty.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8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12"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endParaRPr lang="en-US" altLang="zh-C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441" marR="6441" marT="6441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Project 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4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endParaRPr lang="en-US" altLang="zh-C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endParaRPr lang="en-US" altLang="zh-C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163912"/>
                  </a:ext>
                </a:extLst>
              </a:tr>
              <a:tr h="557512"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441" marR="6441" marT="6441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{{CONTAINER_ENERGY_MWH}}MWh 20ft Container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4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Rated energy: {{CONTAINER_ENERGY_MWH}}MWh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{{QTY_PER_UNIT}}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sz="1300">
                          <a:latin typeface="Times New Roman"/>
                        </a:rPr>
                        <a:t>{{CONTAINER_QTY}}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408392"/>
                  </a:ext>
                </a:extLst>
              </a:tr>
              <a:tr h="557512"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1.1</a:t>
                      </a:r>
                    </a:p>
                  </a:txBody>
                  <a:tcPr marL="6441" marR="6441" marT="6441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LFP battery </a:t>
                      </a:r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cluster</a:t>
                      </a:r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4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Rated capacity: {{CLUSTER_ENERGY_KWH}}kWh, BMS included</a:t>
                      </a:r>
                      <a:endParaRPr lang="en-US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{{CLUSTERS_PER_CONTAINER}}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Times New Roman"/>
                        </a:rPr>
                        <a:t>{{CLUSTER_TOTAL_QTY}}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512"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1.2</a:t>
                      </a:r>
                    </a:p>
                  </a:txBody>
                  <a:tcPr marL="6441" marR="6441" marT="6441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Liquid cooling system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{{COOLING_KW}}kW Liquid cooling machine and pipeline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{{QTY_PER_UNIT}}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914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>
                          <a:latin typeface="Times New Roman"/>
                        </a:rPr>
                        <a:t>{{CONTAINER_QTY}}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512"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1.3</a:t>
                      </a:r>
                    </a:p>
                  </a:txBody>
                  <a:tcPr marL="6441" marR="6441" marT="6441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20ft HC c</a:t>
                      </a:r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ontainer</a:t>
                      </a:r>
                      <a:endParaRPr lang="en-US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{{CONTAINER_DIM_MM}}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{{QTY_PER_UNIT}}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914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>
                          <a:latin typeface="Times New Roman"/>
                        </a:rPr>
                        <a:t>{{CONTAINER_QTY}}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512"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441" marR="6441" marT="6441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DC combiner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Consists of {{CLUSTERS_PER_CONTAINER}} channel DC access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{{QTY_PER_UNIT}}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914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>
                          <a:latin typeface="Times New Roman"/>
                        </a:rPr>
                        <a:t>{{CONTAINER_QTY}}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512"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1.5</a:t>
                      </a:r>
                    </a:p>
                  </a:txBody>
                  <a:tcPr marL="6441" marR="6441" marT="6441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ire suppression system</a:t>
                      </a:r>
                      <a:endParaRPr lang="en-US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思源黑体 CN Normal" panose="020B0400000000000000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Water spray on system level + chemical agent (aerosol)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79145" rtl="0" eaLnBrk="1" fontAlgn="ctr" latinLnBrk="0" hangingPunct="1"/>
                      <a:r>
                        <a:rPr lang="en-US" altLang="zh-C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思源黑体 CN Normal" panose="020B0400000000000000" pitchFamily="34" charset="-122"/>
                          <a:cs typeface="Times New Roman" panose="02020603050405020304" pitchFamily="18" charset="0"/>
                        </a:rPr>
                        <a:t>{{QTY_PER_UNIT}}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914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>
                          <a:latin typeface="Times New Roman"/>
                        </a:rPr>
                        <a:t>{{CONTAINER_QTY}}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652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1">
            <a:extLst>
              <a:ext uri="{FF2B5EF4-FFF2-40B4-BE49-F238E27FC236}">
                <a16:creationId xmlns:a16="http://schemas.microsoft.com/office/drawing/2014/main" id="{E9BF4AD2-A9B1-4759-9B2C-F6D7E6198C0B}"/>
              </a:ext>
            </a:extLst>
          </p:cNvPr>
          <p:cNvSpPr txBox="1"/>
          <p:nvPr/>
        </p:nvSpPr>
        <p:spPr>
          <a:xfrm>
            <a:off x="381599" y="226800"/>
            <a:ext cx="5965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081CF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3 Project S</a:t>
            </a:r>
            <a:r>
              <a:rPr lang="en-US" altLang="zh-CN" sz="2000" b="1" dirty="0" err="1">
                <a:solidFill>
                  <a:srgbClr val="4081CF"/>
                </a:solidFill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izing</a:t>
            </a:r>
            <a:r>
              <a:rPr lang="en-US" altLang="zh-CN" sz="2000" b="1" dirty="0">
                <a:solidFill>
                  <a:srgbClr val="4081CF"/>
                </a:solidFill>
                <a:latin typeface="Times New Roman" panose="02020603050405020304" pitchFamily="18" charset="0"/>
                <a:ea typeface="思源黑体 CN Regular" panose="020B0500000000000000" charset="-122"/>
                <a:cs typeface="Times New Roman" panose="02020603050405020304" pitchFamily="18" charset="0"/>
              </a:rPr>
              <a:t> and augmentation calculation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6C06D6-E80E-442C-9BFA-E21158FECDBD}"/>
              </a:ext>
            </a:extLst>
          </p:cNvPr>
          <p:cNvSpPr/>
          <p:nvPr/>
        </p:nvSpPr>
        <p:spPr>
          <a:xfrm>
            <a:off x="316009" y="5498467"/>
            <a:ext cx="115171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/>
              <a:t>Notes:											</a:t>
            </a:r>
          </a:p>
          <a:p>
            <a:r>
              <a:rPr lang="en-US" altLang="zh-CN" sz="1000" dirty="0"/>
              <a:t>One BESS unit contains 1pc {{CONTAINER_ENERGY_MWH}}MWh in a 20ft container ({{RATE}}/{{CYCLES_PER_DAY}}cycle/day-{{DOD}}%DOD).</a:t>
            </a:r>
          </a:p>
          <a:p>
            <a:r>
              <a:rPr lang="en-US" altLang="zh-CN" sz="1000" dirty="0"/>
              <a:t>System initial group efficiency is caused by the inconsistency of the battery   cells when the system is assembled. Different system configuration has different initial group </a:t>
            </a:r>
            <a:r>
              <a:rPr lang="en-US" altLang="zh-CN" sz="1000" dirty="0" err="1"/>
              <a:t>effiDC</a:t>
            </a:r>
            <a:r>
              <a:rPr lang="en-US" altLang="zh-CN" sz="1000" dirty="0"/>
              <a:t>-side is within EVE's supply scope and AC-side not. So the AC-side efficiency is estimated according to experience. If the customer has accurate efficiencies on the AC-side, please share them and we will update the calculation.	</a:t>
            </a:r>
          </a:p>
          <a:p>
            <a:r>
              <a:rPr lang="en-US" altLang="zh-CN" sz="1000" dirty="0"/>
              <a:t>PCS Single Side Efficiency: {{EFF_PCS}}%; MV Transformer Single Side Efficiency:{{EFF_TRANSFORMER}}%; AC Cable Efficiency: {{EFF_CABLE}}%. AC-side efficiency (estimated) : {{EFF_AC}}%={{EFF_PCS_NUM}}*{{EFF_TRANSFORMER_NUM}}*{{EFF_CABLE_NUM}}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4431" y="712895"/>
          <a:ext cx="10549186" cy="469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098"/>
                <a:gridCol w="879098"/>
                <a:gridCol w="879098"/>
                <a:gridCol w="879098"/>
                <a:gridCol w="879098"/>
                <a:gridCol w="879098"/>
                <a:gridCol w="879098"/>
                <a:gridCol w="879098"/>
                <a:gridCol w="879098"/>
                <a:gridCol w="879098"/>
                <a:gridCol w="879098"/>
                <a:gridCol w="879108"/>
              </a:tblGrid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Year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Rated energy/container (MWh)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Container qty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BESS unit count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PCS count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DOD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DC-DC RTE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SOH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AC-side efficiency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Total discharge capability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Aux power/MWh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AC usable energy/MWh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17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6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04086">
                <a:tc>
                  <a:txBody>
                    <a:bodyPr/>
                    <a:lstStyle/>
                    <a:p>
                      <a:pPr algn="l" fontAlgn="ctr"/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t>-</a:t>
                      </a:r>
                    </a:p>
                  </a:txBody>
                  <a:tcPr marL="5761" marR="5761" marT="576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368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EA3813-DD7F-4D1B-9042-2672BF19F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260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ABLE_BEAUTIFY" val="smartTable{e5fc289f-49a5-4424-8554-da0e8979aba3}"/>
  <p:tag name="TABLE_ENDDRAG_ORIGIN_RECT" val="447*301"/>
  <p:tag name="TABLE_ENDDRAG_RECT" val="248*65*447*30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0b60bce-c810-4da5-955a-c254529321f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首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内容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结束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2007</Words>
  <Application>Microsoft Office PowerPoint</Application>
  <PresentationFormat>宽屏</PresentationFormat>
  <Paragraphs>684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等线</vt:lpstr>
      <vt:lpstr>思源黑体 CN Bold</vt:lpstr>
      <vt:lpstr>思源黑体 CN Heavy</vt:lpstr>
      <vt:lpstr>思源黑体 CN Light</vt:lpstr>
      <vt:lpstr>思源黑体 CN Normal</vt:lpstr>
      <vt:lpstr>思源黑体 CN Regular</vt:lpstr>
      <vt:lpstr>宋体</vt:lpstr>
      <vt:lpstr>微软雅黑</vt:lpstr>
      <vt:lpstr>Arial</vt:lpstr>
      <vt:lpstr>Calibri</vt:lpstr>
      <vt:lpstr>Times New Roman</vt:lpstr>
      <vt:lpstr>Wingdings</vt:lpstr>
      <vt:lpstr>首页</vt:lpstr>
      <vt:lpstr>目录</vt:lpstr>
      <vt:lpstr>内容页</vt:lpstr>
      <vt:lpstr>结束页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胡义</dc:creator>
  <cp:lastModifiedBy>胡义</cp:lastModifiedBy>
  <cp:revision>38</cp:revision>
  <cp:lastPrinted>2024-12-12T07:31:05Z</cp:lastPrinted>
  <dcterms:created xsi:type="dcterms:W3CDTF">2024-12-12T05:34:04Z</dcterms:created>
  <dcterms:modified xsi:type="dcterms:W3CDTF">2025-03-14T06:47:08Z</dcterms:modified>
</cp:coreProperties>
</file>